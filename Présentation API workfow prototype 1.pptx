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5E9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2862262" y="0"/>
            <a:ext cx="6096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4787" y="409575"/>
            <a:ext cx="1427159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DFE7EE"/>
                </a:solidFill>
                <a:latin typeface="Shantell Sans"/>
              </a:rPr>
              <a:t>Architecture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5737" y="845820"/>
            <a:ext cx="8401050" cy="40957"/>
          </a:xfrm>
          <a:custGeom>
            <a:avLst/>
            <a:gdLst/>
            <a:ahLst/>
            <a:cxnLst/>
            <a:rect l="0" t="0" r="0" b="0"/>
            <a:pathLst>
              <a:path w="8401050" h="40957">
                <a:moveTo>
                  <a:pt x="8401050" y="20955"/>
                </a:moveTo>
                <a:lnTo>
                  <a:pt x="0" y="20955"/>
                </a:lnTo>
                <a:moveTo>
                  <a:pt x="0" y="20955"/>
                </a:moveTo>
                <a:cubicBezTo>
                  <a:pt x="230505" y="21907"/>
                  <a:pt x="461962" y="39052"/>
                  <a:pt x="691515" y="20955"/>
                </a:cubicBezTo>
                <a:cubicBezTo>
                  <a:pt x="963929" y="0"/>
                  <a:pt x="1238250" y="36194"/>
                  <a:pt x="1510665" y="20955"/>
                </a:cubicBezTo>
                <a:cubicBezTo>
                  <a:pt x="1765935" y="6667"/>
                  <a:pt x="2023110" y="6667"/>
                  <a:pt x="2278380" y="20955"/>
                </a:cubicBezTo>
                <a:cubicBezTo>
                  <a:pt x="2546985" y="36194"/>
                  <a:pt x="2816542" y="10477"/>
                  <a:pt x="3085147" y="20955"/>
                </a:cubicBezTo>
                <a:cubicBezTo>
                  <a:pt x="3318510" y="30480"/>
                  <a:pt x="3551872" y="20002"/>
                  <a:pt x="3785235" y="20955"/>
                </a:cubicBezTo>
                <a:cubicBezTo>
                  <a:pt x="4065270" y="21907"/>
                  <a:pt x="4345305" y="22860"/>
                  <a:pt x="4625340" y="20955"/>
                </a:cubicBezTo>
                <a:cubicBezTo>
                  <a:pt x="4895850" y="20002"/>
                  <a:pt x="5167312" y="7619"/>
                  <a:pt x="5437822" y="20955"/>
                </a:cubicBezTo>
                <a:cubicBezTo>
                  <a:pt x="5668327" y="32385"/>
                  <a:pt x="5900737" y="3810"/>
                  <a:pt x="6131242" y="20955"/>
                </a:cubicBezTo>
                <a:cubicBezTo>
                  <a:pt x="6396037" y="40957"/>
                  <a:pt x="6663690" y="3810"/>
                  <a:pt x="6929437" y="20955"/>
                </a:cubicBezTo>
                <a:cubicBezTo>
                  <a:pt x="7150417" y="35242"/>
                  <a:pt x="7372350" y="4762"/>
                  <a:pt x="7592377" y="20955"/>
                </a:cubicBezTo>
                <a:cubicBezTo>
                  <a:pt x="7860982" y="40957"/>
                  <a:pt x="8132445" y="2857"/>
                  <a:pt x="8401050" y="20955"/>
                </a:cubicBezTo>
              </a:path>
            </a:pathLst>
          </a:custGeom>
          <a:noFill/>
          <a:ln w="14287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204787" y="990599"/>
            <a:ext cx="4866379" cy="2286000"/>
            <a:chOff x="390525" y="990599"/>
            <a:chExt cx="4866379" cy="22860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990599"/>
              <a:ext cx="4866379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DFE7EE"/>
                  </a:solidFill>
                  <a:latin typeface="Shantell Sans"/>
                </a:rPr>
                <a:t>Architecture de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1562099"/>
              <a:ext cx="4866379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DFE7EE"/>
                  </a:solidFill>
                  <a:latin typeface="Shantell Sans"/>
                </a:rPr>
                <a:t>workflow API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2133599"/>
              <a:ext cx="4866379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DFE7EE"/>
                  </a:solidFill>
                  <a:latin typeface="Shantell Sans"/>
                </a:rPr>
                <a:t>pour service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525" y="2705099"/>
              <a:ext cx="4866379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DFE7EE"/>
                  </a:solidFill>
                  <a:latin typeface="Shantell Sans"/>
                </a:rPr>
                <a:t>client IA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04787" y="3467100"/>
            <a:ext cx="2255139" cy="685800"/>
            <a:chOff x="390525" y="3467100"/>
            <a:chExt cx="2255139" cy="685800"/>
          </a:xfrm>
        </p:grpSpPr>
        <p:sp>
          <p:nvSpPr>
            <p:cNvPr id="10" name="TextBox 9"/>
            <p:cNvSpPr txBox="1"/>
            <p:nvPr/>
          </p:nvSpPr>
          <p:spPr>
            <a:xfrm>
              <a:off x="390525" y="3467100"/>
              <a:ext cx="22551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DFE7EE"/>
                  </a:solidFill>
                  <a:latin typeface="Shantell Sans"/>
                </a:rPr>
                <a:t>Optimiser l'efficacité, la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525" y="3695700"/>
              <a:ext cx="22551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DFE7EE"/>
                  </a:solidFill>
                  <a:latin typeface="Shantell Sans"/>
                </a:rPr>
                <a:t>scalabilité et la fiabilité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0525" y="3924300"/>
              <a:ext cx="22551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DFE7EE"/>
                  </a:solidFill>
                  <a:latin typeface="Shantell Sans"/>
                </a:rPr>
                <a:t>du service client.</a:t>
              </a: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185737" y="4257675"/>
            <a:ext cx="8401050" cy="37147"/>
          </a:xfrm>
          <a:custGeom>
            <a:avLst/>
            <a:gdLst/>
            <a:ahLst/>
            <a:cxnLst/>
            <a:rect l="0" t="0" r="0" b="0"/>
            <a:pathLst>
              <a:path w="8401050" h="37147">
                <a:moveTo>
                  <a:pt x="8401050" y="19050"/>
                </a:moveTo>
                <a:lnTo>
                  <a:pt x="0" y="19050"/>
                </a:lnTo>
                <a:moveTo>
                  <a:pt x="0" y="19050"/>
                </a:moveTo>
                <a:cubicBezTo>
                  <a:pt x="123825" y="4762"/>
                  <a:pt x="248602" y="22859"/>
                  <a:pt x="373380" y="19050"/>
                </a:cubicBezTo>
                <a:cubicBezTo>
                  <a:pt x="510539" y="14287"/>
                  <a:pt x="648652" y="7620"/>
                  <a:pt x="784860" y="19050"/>
                </a:cubicBezTo>
                <a:cubicBezTo>
                  <a:pt x="902017" y="28575"/>
                  <a:pt x="1020127" y="15240"/>
                  <a:pt x="1138237" y="19050"/>
                </a:cubicBezTo>
                <a:cubicBezTo>
                  <a:pt x="1258252" y="22859"/>
                  <a:pt x="1378267" y="24765"/>
                  <a:pt x="1498282" y="19050"/>
                </a:cubicBezTo>
                <a:cubicBezTo>
                  <a:pt x="1634490" y="12382"/>
                  <a:pt x="1771650" y="16192"/>
                  <a:pt x="1908810" y="19050"/>
                </a:cubicBezTo>
                <a:cubicBezTo>
                  <a:pt x="2030730" y="21907"/>
                  <a:pt x="2153602" y="33337"/>
                  <a:pt x="2275522" y="19050"/>
                </a:cubicBezTo>
                <a:cubicBezTo>
                  <a:pt x="2405062" y="3809"/>
                  <a:pt x="2536507" y="14287"/>
                  <a:pt x="2667000" y="19050"/>
                </a:cubicBezTo>
                <a:cubicBezTo>
                  <a:pt x="2793682" y="23812"/>
                  <a:pt x="2923222" y="36195"/>
                  <a:pt x="3049905" y="19050"/>
                </a:cubicBezTo>
                <a:cubicBezTo>
                  <a:pt x="3171825" y="1904"/>
                  <a:pt x="3296602" y="31432"/>
                  <a:pt x="3419475" y="19050"/>
                </a:cubicBezTo>
                <a:cubicBezTo>
                  <a:pt x="3548062" y="5715"/>
                  <a:pt x="3678555" y="26670"/>
                  <a:pt x="3808095" y="19050"/>
                </a:cubicBezTo>
                <a:cubicBezTo>
                  <a:pt x="3936682" y="11429"/>
                  <a:pt x="4067175" y="6667"/>
                  <a:pt x="4195762" y="19050"/>
                </a:cubicBezTo>
                <a:cubicBezTo>
                  <a:pt x="4323397" y="31432"/>
                  <a:pt x="4451032" y="9525"/>
                  <a:pt x="4578667" y="19050"/>
                </a:cubicBezTo>
                <a:cubicBezTo>
                  <a:pt x="4695825" y="28575"/>
                  <a:pt x="4813935" y="14287"/>
                  <a:pt x="4932045" y="19050"/>
                </a:cubicBezTo>
                <a:cubicBezTo>
                  <a:pt x="5071110" y="24765"/>
                  <a:pt x="5210175" y="24765"/>
                  <a:pt x="5349240" y="19050"/>
                </a:cubicBezTo>
                <a:cubicBezTo>
                  <a:pt x="5479732" y="13334"/>
                  <a:pt x="5610225" y="22859"/>
                  <a:pt x="5740717" y="19050"/>
                </a:cubicBezTo>
                <a:cubicBezTo>
                  <a:pt x="5870257" y="15240"/>
                  <a:pt x="5999797" y="12382"/>
                  <a:pt x="6129337" y="19050"/>
                </a:cubicBezTo>
                <a:cubicBezTo>
                  <a:pt x="6243637" y="24765"/>
                  <a:pt x="6358890" y="28575"/>
                  <a:pt x="6473190" y="19050"/>
                </a:cubicBezTo>
                <a:cubicBezTo>
                  <a:pt x="6599872" y="8572"/>
                  <a:pt x="6729412" y="32384"/>
                  <a:pt x="6856095" y="19050"/>
                </a:cubicBezTo>
                <a:cubicBezTo>
                  <a:pt x="6976110" y="6667"/>
                  <a:pt x="7098030" y="4762"/>
                  <a:pt x="7217092" y="19050"/>
                </a:cubicBezTo>
                <a:cubicBezTo>
                  <a:pt x="7359967" y="36195"/>
                  <a:pt x="7505700" y="27622"/>
                  <a:pt x="7649527" y="19050"/>
                </a:cubicBezTo>
                <a:cubicBezTo>
                  <a:pt x="7769542" y="11429"/>
                  <a:pt x="7891462" y="37147"/>
                  <a:pt x="8011477" y="19050"/>
                </a:cubicBezTo>
                <a:cubicBezTo>
                  <a:pt x="8140065" y="0"/>
                  <a:pt x="8271510" y="21907"/>
                  <a:pt x="8401050" y="19050"/>
                </a:cubicBezTo>
              </a:path>
            </a:pathLst>
          </a:custGeom>
          <a:noFill/>
          <a:ln w="14287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4787" y="4505325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DFE7EE"/>
                </a:solidFill>
                <a:latin typeface="Shantell San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5E9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512" y="233363"/>
            <a:ext cx="4467225" cy="2733713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195262" y="1614526"/>
            <a:ext cx="2634948" cy="800099"/>
            <a:chOff x="390525" y="1381163"/>
            <a:chExt cx="2634948" cy="800099"/>
          </a:xfrm>
        </p:grpSpPr>
        <p:sp>
          <p:nvSpPr>
            <p:cNvPr id="3" name="TextBox 2"/>
            <p:cNvSpPr txBox="1"/>
            <p:nvPr/>
          </p:nvSpPr>
          <p:spPr>
            <a:xfrm>
              <a:off x="390525" y="1381163"/>
              <a:ext cx="263494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DFE7EE"/>
                  </a:solidFill>
                  <a:latin typeface="Shantell Sans"/>
                </a:rPr>
                <a:t>Objectifs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0525" y="1781213"/>
              <a:ext cx="2634948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DFE7EE"/>
                  </a:solidFill>
                  <a:latin typeface="Shantell Sans"/>
                </a:rPr>
                <a:t>stratégiques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95262" y="2509876"/>
            <a:ext cx="3758603" cy="457200"/>
            <a:chOff x="390525" y="2276513"/>
            <a:chExt cx="3758603" cy="457200"/>
          </a:xfrm>
        </p:grpSpPr>
        <p:sp>
          <p:nvSpPr>
            <p:cNvPr id="6" name="TextBox 5"/>
            <p:cNvSpPr txBox="1"/>
            <p:nvPr/>
          </p:nvSpPr>
          <p:spPr>
            <a:xfrm>
              <a:off x="390525" y="2276513"/>
              <a:ext cx="37586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DFE7EE"/>
                  </a:solidFill>
                  <a:latin typeface="Shantell Sans"/>
                </a:rPr>
                <a:t>Pourquoi transformer notre architecture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2505113"/>
              <a:ext cx="37586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DFE7EE"/>
                  </a:solidFill>
                  <a:latin typeface="Shantell Sans"/>
                </a:rPr>
                <a:t>actuelle ?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95262" y="3433801"/>
            <a:ext cx="497185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DFE7EE"/>
                </a:solidFill>
                <a:latin typeface="Shantell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8387" y="3433801"/>
            <a:ext cx="612381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DFE7EE"/>
                </a:solidFill>
                <a:latin typeface="Shantell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1512" y="3433801"/>
            <a:ext cx="617343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DFE7EE"/>
                </a:solidFill>
                <a:latin typeface="Shantell San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4637" y="3433801"/>
            <a:ext cx="626468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DFE7EE"/>
                </a:solidFill>
                <a:latin typeface="Shantell Sans"/>
              </a:rPr>
              <a:t>04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95262" y="3986251"/>
            <a:ext cx="1125045" cy="381000"/>
            <a:chOff x="390525" y="3752888"/>
            <a:chExt cx="1125045" cy="381000"/>
          </a:xfrm>
        </p:grpSpPr>
        <p:sp>
          <p:nvSpPr>
            <p:cNvPr id="13" name="TextBox 12"/>
            <p:cNvSpPr txBox="1"/>
            <p:nvPr/>
          </p:nvSpPr>
          <p:spPr>
            <a:xfrm>
              <a:off x="390525" y="3752888"/>
              <a:ext cx="11250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DFE7EE"/>
                  </a:solidFill>
                  <a:latin typeface="Shantell Sans"/>
                </a:rPr>
                <a:t>Efficacité des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90525" y="3943388"/>
              <a:ext cx="11250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DFE7EE"/>
                  </a:solidFill>
                  <a:latin typeface="Shantell Sans"/>
                </a:rPr>
                <a:t>ressources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338387" y="3986251"/>
            <a:ext cx="173514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DFE7EE"/>
                </a:solidFill>
                <a:latin typeface="Shantell Sans"/>
              </a:rPr>
              <a:t>Fiabilité des réponses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1512" y="3986251"/>
            <a:ext cx="162947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DFE7EE"/>
                </a:solidFill>
                <a:latin typeface="Shantell Sans"/>
              </a:rPr>
              <a:t>Gouvernance stricte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4637" y="3986251"/>
            <a:ext cx="1813321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DFE7EE"/>
                </a:solidFill>
                <a:latin typeface="Shantell Sans"/>
              </a:rPr>
              <a:t>Scalabilité horizontale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2338387" y="4262476"/>
            <a:ext cx="1690192" cy="457161"/>
            <a:chOff x="2533650" y="4029113"/>
            <a:chExt cx="1690192" cy="457161"/>
          </a:xfrm>
        </p:grpSpPr>
        <p:sp>
          <p:nvSpPr>
            <p:cNvPr id="19" name="TextBox 18"/>
            <p:cNvSpPr txBox="1"/>
            <p:nvPr/>
          </p:nvSpPr>
          <p:spPr>
            <a:xfrm>
              <a:off x="2533650" y="4029113"/>
              <a:ext cx="169019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DFE7EE"/>
                  </a:solidFill>
                  <a:latin typeface="Shantell Sans"/>
                </a:rPr>
                <a:t>Élimination des risques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33650" y="4181513"/>
              <a:ext cx="169019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DFE7EE"/>
                  </a:solidFill>
                  <a:latin typeface="Shantell Sans"/>
                </a:rPr>
                <a:t>d'hallucination en séparant la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33650" y="4333913"/>
              <a:ext cx="1690192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DFE7EE"/>
                  </a:solidFill>
                  <a:latin typeface="Shantell Sans"/>
                </a:rPr>
                <a:t>donnée de la génération.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481512" y="4262476"/>
            <a:ext cx="1926631" cy="304761"/>
            <a:chOff x="4676775" y="4029113"/>
            <a:chExt cx="1926631" cy="304761"/>
          </a:xfrm>
        </p:grpSpPr>
        <p:sp>
          <p:nvSpPr>
            <p:cNvPr id="23" name="TextBox 22"/>
            <p:cNvSpPr txBox="1"/>
            <p:nvPr/>
          </p:nvSpPr>
          <p:spPr>
            <a:xfrm>
              <a:off x="4676775" y="4029113"/>
              <a:ext cx="192663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DFE7EE"/>
                  </a:solidFill>
                  <a:latin typeface="Shantell Sans"/>
                </a:rPr>
                <a:t>Séparation claire entre la prise de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76775" y="4181513"/>
              <a:ext cx="1926631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DFE7EE"/>
                  </a:solidFill>
                  <a:latin typeface="Shantell Sans"/>
                </a:rPr>
                <a:t>décision (IA) et l'exécution (API).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624637" y="4262476"/>
            <a:ext cx="1850231" cy="304761"/>
            <a:chOff x="6819900" y="4029113"/>
            <a:chExt cx="1850231" cy="304761"/>
          </a:xfrm>
        </p:grpSpPr>
        <p:sp>
          <p:nvSpPr>
            <p:cNvPr id="26" name="TextBox 25"/>
            <p:cNvSpPr txBox="1"/>
            <p:nvPr/>
          </p:nvSpPr>
          <p:spPr>
            <a:xfrm>
              <a:off x="6819900" y="4029113"/>
              <a:ext cx="185023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DFE7EE"/>
                  </a:solidFill>
                  <a:latin typeface="Shantell Sans"/>
                </a:rPr>
                <a:t>Capacité à monter en charge via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19900" y="4181513"/>
              <a:ext cx="1850231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DFE7EE"/>
                  </a:solidFill>
                  <a:latin typeface="Shantell Sans"/>
                </a:rPr>
                <a:t>une infrastructure distribuée.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95262" y="4452976"/>
            <a:ext cx="1744865" cy="457161"/>
            <a:chOff x="390525" y="4219613"/>
            <a:chExt cx="1744865" cy="457161"/>
          </a:xfrm>
        </p:grpSpPr>
        <p:sp>
          <p:nvSpPr>
            <p:cNvPr id="29" name="TextBox 28"/>
            <p:cNvSpPr txBox="1"/>
            <p:nvPr/>
          </p:nvSpPr>
          <p:spPr>
            <a:xfrm>
              <a:off x="390525" y="4219613"/>
              <a:ext cx="174486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DFE7EE"/>
                  </a:solidFill>
                  <a:latin typeface="Shantell Sans"/>
                </a:rPr>
                <a:t>Réduction de la consommation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0525" y="4372013"/>
              <a:ext cx="174486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DFE7EE"/>
                  </a:solidFill>
                  <a:latin typeface="Shantell Sans"/>
                </a:rPr>
                <a:t>GPU et mémoire pour un coût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0525" y="4524413"/>
              <a:ext cx="1744865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DFE7EE"/>
                  </a:solidFill>
                  <a:latin typeface="Shantell Sans"/>
                </a:rPr>
                <a:t>opérationnel maîtrisé.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5E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4764" y="2907409"/>
            <a:ext cx="1461134" cy="1221105"/>
          </a:xfrm>
          <a:custGeom>
            <a:avLst/>
            <a:gdLst/>
            <a:ahLst/>
            <a:cxnLst/>
            <a:rect l="0" t="0" r="0" b="0"/>
            <a:pathLst>
              <a:path w="1461134" h="1221105">
                <a:moveTo>
                  <a:pt x="17144" y="84696"/>
                </a:moveTo>
                <a:lnTo>
                  <a:pt x="17144" y="62179"/>
                </a:lnTo>
                <a:cubicBezTo>
                  <a:pt x="17144" y="37307"/>
                  <a:pt x="37307" y="17145"/>
                  <a:pt x="62179" y="17145"/>
                </a:cubicBezTo>
                <a:lnTo>
                  <a:pt x="84696" y="17145"/>
                </a:lnTo>
                <a:moveTo>
                  <a:pt x="17144" y="84696"/>
                </a:moveTo>
                <a:lnTo>
                  <a:pt x="17144" y="1145349"/>
                </a:lnTo>
                <a:moveTo>
                  <a:pt x="1446281" y="84696"/>
                </a:moveTo>
                <a:lnTo>
                  <a:pt x="1446281" y="1145349"/>
                </a:lnTo>
                <a:moveTo>
                  <a:pt x="84696" y="17145"/>
                </a:moveTo>
                <a:lnTo>
                  <a:pt x="1378730" y="17145"/>
                </a:lnTo>
                <a:moveTo>
                  <a:pt x="17144" y="1145349"/>
                </a:moveTo>
                <a:lnTo>
                  <a:pt x="17144" y="1167866"/>
                </a:lnTo>
                <a:cubicBezTo>
                  <a:pt x="17144" y="1192737"/>
                  <a:pt x="37307" y="1212900"/>
                  <a:pt x="62179" y="1212900"/>
                </a:cubicBezTo>
                <a:lnTo>
                  <a:pt x="84696" y="1212900"/>
                </a:lnTo>
                <a:moveTo>
                  <a:pt x="1446281" y="84696"/>
                </a:moveTo>
                <a:lnTo>
                  <a:pt x="1446281" y="62179"/>
                </a:lnTo>
                <a:cubicBezTo>
                  <a:pt x="1446281" y="37307"/>
                  <a:pt x="1426119" y="17145"/>
                  <a:pt x="1401247" y="17145"/>
                </a:cubicBezTo>
                <a:lnTo>
                  <a:pt x="1378730" y="17145"/>
                </a:lnTo>
                <a:moveTo>
                  <a:pt x="1378730" y="1212900"/>
                </a:moveTo>
                <a:lnTo>
                  <a:pt x="84696" y="1212900"/>
                </a:lnTo>
                <a:moveTo>
                  <a:pt x="1446281" y="1145349"/>
                </a:moveTo>
                <a:lnTo>
                  <a:pt x="1446281" y="1167866"/>
                </a:lnTo>
                <a:cubicBezTo>
                  <a:pt x="1446281" y="1192737"/>
                  <a:pt x="1426119" y="1212900"/>
                  <a:pt x="1401247" y="1212900"/>
                </a:cubicBezTo>
                <a:lnTo>
                  <a:pt x="1378730" y="1212900"/>
                </a:lnTo>
                <a:moveTo>
                  <a:pt x="84772" y="17145"/>
                </a:moveTo>
                <a:cubicBezTo>
                  <a:pt x="77152" y="17145"/>
                  <a:pt x="69532" y="18097"/>
                  <a:pt x="61912" y="17145"/>
                </a:cubicBezTo>
                <a:cubicBezTo>
                  <a:pt x="37147" y="14287"/>
                  <a:pt x="24764" y="38100"/>
                  <a:pt x="17144" y="61912"/>
                </a:cubicBezTo>
                <a:cubicBezTo>
                  <a:pt x="15239" y="69532"/>
                  <a:pt x="19050" y="77152"/>
                  <a:pt x="17144" y="84772"/>
                </a:cubicBezTo>
                <a:moveTo>
                  <a:pt x="17144" y="84772"/>
                </a:moveTo>
                <a:cubicBezTo>
                  <a:pt x="20954" y="208597"/>
                  <a:pt x="33337" y="332422"/>
                  <a:pt x="17144" y="455295"/>
                </a:cubicBezTo>
                <a:cubicBezTo>
                  <a:pt x="952" y="575310"/>
                  <a:pt x="0" y="699135"/>
                  <a:pt x="17144" y="819150"/>
                </a:cubicBezTo>
                <a:cubicBezTo>
                  <a:pt x="32384" y="926782"/>
                  <a:pt x="6667" y="1037272"/>
                  <a:pt x="17144" y="1144905"/>
                </a:cubicBezTo>
                <a:moveTo>
                  <a:pt x="1445895" y="84772"/>
                </a:moveTo>
                <a:cubicBezTo>
                  <a:pt x="1449705" y="269557"/>
                  <a:pt x="1461134" y="455295"/>
                  <a:pt x="1445895" y="639127"/>
                </a:cubicBezTo>
                <a:cubicBezTo>
                  <a:pt x="1432559" y="806767"/>
                  <a:pt x="1448752" y="976312"/>
                  <a:pt x="1445895" y="1144905"/>
                </a:cubicBezTo>
                <a:moveTo>
                  <a:pt x="84772" y="17145"/>
                </a:moveTo>
                <a:cubicBezTo>
                  <a:pt x="319087" y="20955"/>
                  <a:pt x="553402" y="17145"/>
                  <a:pt x="786765" y="17145"/>
                </a:cubicBezTo>
                <a:cubicBezTo>
                  <a:pt x="983932" y="17145"/>
                  <a:pt x="1182052" y="0"/>
                  <a:pt x="1378267" y="17145"/>
                </a:cubicBezTo>
                <a:moveTo>
                  <a:pt x="84772" y="1212532"/>
                </a:moveTo>
                <a:cubicBezTo>
                  <a:pt x="77152" y="1215390"/>
                  <a:pt x="69532" y="1212532"/>
                  <a:pt x="61912" y="1212532"/>
                </a:cubicBezTo>
                <a:cubicBezTo>
                  <a:pt x="37147" y="1213485"/>
                  <a:pt x="18097" y="1192530"/>
                  <a:pt x="17144" y="1167765"/>
                </a:cubicBezTo>
                <a:cubicBezTo>
                  <a:pt x="17144" y="1160145"/>
                  <a:pt x="17144" y="1152525"/>
                  <a:pt x="17144" y="1144905"/>
                </a:cubicBezTo>
                <a:moveTo>
                  <a:pt x="1378267" y="17145"/>
                </a:moveTo>
                <a:cubicBezTo>
                  <a:pt x="1385887" y="18097"/>
                  <a:pt x="1393507" y="17145"/>
                  <a:pt x="1401127" y="17145"/>
                </a:cubicBezTo>
                <a:cubicBezTo>
                  <a:pt x="1425892" y="16192"/>
                  <a:pt x="1442084" y="38100"/>
                  <a:pt x="1445895" y="61912"/>
                </a:cubicBezTo>
                <a:cubicBezTo>
                  <a:pt x="1447800" y="69532"/>
                  <a:pt x="1447800" y="77152"/>
                  <a:pt x="1445895" y="84772"/>
                </a:cubicBezTo>
                <a:moveTo>
                  <a:pt x="1378267" y="1212532"/>
                </a:moveTo>
                <a:cubicBezTo>
                  <a:pt x="1146810" y="1215390"/>
                  <a:pt x="914399" y="1203960"/>
                  <a:pt x="681990" y="1212532"/>
                </a:cubicBezTo>
                <a:cubicBezTo>
                  <a:pt x="482917" y="1220152"/>
                  <a:pt x="283845" y="1213485"/>
                  <a:pt x="84772" y="1212532"/>
                </a:cubicBezTo>
                <a:moveTo>
                  <a:pt x="1378267" y="1212532"/>
                </a:moveTo>
                <a:cubicBezTo>
                  <a:pt x="1385887" y="1212532"/>
                  <a:pt x="1394459" y="1210627"/>
                  <a:pt x="1401127" y="1212532"/>
                </a:cubicBezTo>
                <a:cubicBezTo>
                  <a:pt x="1424940" y="1221105"/>
                  <a:pt x="1440180" y="1191577"/>
                  <a:pt x="1445895" y="1167765"/>
                </a:cubicBezTo>
                <a:cubicBezTo>
                  <a:pt x="1447800" y="1160145"/>
                  <a:pt x="1445895" y="1152525"/>
                  <a:pt x="1445895" y="1144905"/>
                </a:cubicBezTo>
              </a:path>
            </a:pathLst>
          </a:custGeom>
          <a:noFill/>
          <a:ln w="16887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674996" y="2839317"/>
            <a:ext cx="1485900" cy="1361122"/>
          </a:xfrm>
          <a:custGeom>
            <a:avLst/>
            <a:gdLst/>
            <a:ahLst/>
            <a:cxnLst/>
            <a:rect l="0" t="0" r="0" b="0"/>
            <a:pathLst>
              <a:path w="1485900" h="1361122">
                <a:moveTo>
                  <a:pt x="6667" y="81839"/>
                </a:moveTo>
                <a:lnTo>
                  <a:pt x="6667" y="59321"/>
                </a:lnTo>
                <a:cubicBezTo>
                  <a:pt x="6667" y="34450"/>
                  <a:pt x="26830" y="14287"/>
                  <a:pt x="51701" y="14287"/>
                </a:cubicBezTo>
                <a:lnTo>
                  <a:pt x="74219" y="14287"/>
                </a:lnTo>
                <a:moveTo>
                  <a:pt x="6667" y="81839"/>
                </a:moveTo>
                <a:lnTo>
                  <a:pt x="6667" y="1284389"/>
                </a:lnTo>
                <a:moveTo>
                  <a:pt x="1474036" y="81839"/>
                </a:moveTo>
                <a:lnTo>
                  <a:pt x="1474036" y="1284389"/>
                </a:lnTo>
                <a:moveTo>
                  <a:pt x="74219" y="14287"/>
                </a:moveTo>
                <a:lnTo>
                  <a:pt x="1406484" y="14287"/>
                </a:lnTo>
                <a:moveTo>
                  <a:pt x="6667" y="1284389"/>
                </a:moveTo>
                <a:lnTo>
                  <a:pt x="6667" y="1306906"/>
                </a:lnTo>
                <a:cubicBezTo>
                  <a:pt x="6667" y="1331777"/>
                  <a:pt x="26830" y="1351940"/>
                  <a:pt x="51701" y="1351940"/>
                </a:cubicBezTo>
                <a:lnTo>
                  <a:pt x="74219" y="1351940"/>
                </a:lnTo>
                <a:moveTo>
                  <a:pt x="1406485" y="14287"/>
                </a:moveTo>
                <a:lnTo>
                  <a:pt x="1429002" y="14287"/>
                </a:lnTo>
                <a:cubicBezTo>
                  <a:pt x="1453873" y="14287"/>
                  <a:pt x="1474036" y="34450"/>
                  <a:pt x="1474036" y="59321"/>
                </a:cubicBezTo>
                <a:lnTo>
                  <a:pt x="1474036" y="81839"/>
                </a:lnTo>
                <a:moveTo>
                  <a:pt x="1406484" y="1351940"/>
                </a:moveTo>
                <a:lnTo>
                  <a:pt x="74219" y="1351940"/>
                </a:lnTo>
                <a:moveTo>
                  <a:pt x="1406485" y="1351940"/>
                </a:moveTo>
                <a:lnTo>
                  <a:pt x="1429002" y="1351940"/>
                </a:lnTo>
                <a:cubicBezTo>
                  <a:pt x="1453873" y="1351940"/>
                  <a:pt x="1474036" y="1331777"/>
                  <a:pt x="1474036" y="1306906"/>
                </a:cubicBezTo>
                <a:lnTo>
                  <a:pt x="1474036" y="1284389"/>
                </a:lnTo>
                <a:moveTo>
                  <a:pt x="74295" y="14287"/>
                </a:moveTo>
                <a:cubicBezTo>
                  <a:pt x="66675" y="15239"/>
                  <a:pt x="59054" y="16192"/>
                  <a:pt x="51434" y="14287"/>
                </a:cubicBezTo>
                <a:cubicBezTo>
                  <a:pt x="27622" y="9525"/>
                  <a:pt x="3809" y="34289"/>
                  <a:pt x="6667" y="59054"/>
                </a:cubicBezTo>
                <a:cubicBezTo>
                  <a:pt x="7620" y="66675"/>
                  <a:pt x="7620" y="74295"/>
                  <a:pt x="6667" y="81914"/>
                </a:cubicBezTo>
                <a:moveTo>
                  <a:pt x="6667" y="81914"/>
                </a:moveTo>
                <a:cubicBezTo>
                  <a:pt x="7620" y="272415"/>
                  <a:pt x="12382" y="463867"/>
                  <a:pt x="6667" y="655320"/>
                </a:cubicBezTo>
                <a:cubicBezTo>
                  <a:pt x="0" y="864870"/>
                  <a:pt x="15239" y="1074420"/>
                  <a:pt x="6667" y="1283970"/>
                </a:cubicBezTo>
                <a:moveTo>
                  <a:pt x="1474470" y="81914"/>
                </a:moveTo>
                <a:cubicBezTo>
                  <a:pt x="1485900" y="276225"/>
                  <a:pt x="1471612" y="470534"/>
                  <a:pt x="1474470" y="664845"/>
                </a:cubicBezTo>
                <a:cubicBezTo>
                  <a:pt x="1476375" y="871537"/>
                  <a:pt x="1464945" y="1078230"/>
                  <a:pt x="1474470" y="1283970"/>
                </a:cubicBezTo>
                <a:moveTo>
                  <a:pt x="74295" y="14287"/>
                </a:moveTo>
                <a:cubicBezTo>
                  <a:pt x="308609" y="32385"/>
                  <a:pt x="543877" y="0"/>
                  <a:pt x="778192" y="14287"/>
                </a:cubicBezTo>
                <a:cubicBezTo>
                  <a:pt x="987742" y="27622"/>
                  <a:pt x="1197292" y="23812"/>
                  <a:pt x="1406842" y="14287"/>
                </a:cubicBezTo>
                <a:moveTo>
                  <a:pt x="74295" y="1351597"/>
                </a:moveTo>
                <a:cubicBezTo>
                  <a:pt x="66675" y="1352550"/>
                  <a:pt x="59054" y="1353502"/>
                  <a:pt x="51434" y="1351597"/>
                </a:cubicBezTo>
                <a:cubicBezTo>
                  <a:pt x="27622" y="1346834"/>
                  <a:pt x="10477" y="1331595"/>
                  <a:pt x="6667" y="1306830"/>
                </a:cubicBezTo>
                <a:cubicBezTo>
                  <a:pt x="5714" y="1299209"/>
                  <a:pt x="6667" y="1291590"/>
                  <a:pt x="6667" y="1283970"/>
                </a:cubicBezTo>
                <a:moveTo>
                  <a:pt x="1406842" y="14287"/>
                </a:moveTo>
                <a:cubicBezTo>
                  <a:pt x="1413509" y="15239"/>
                  <a:pt x="1422082" y="11429"/>
                  <a:pt x="1428750" y="14287"/>
                </a:cubicBezTo>
                <a:cubicBezTo>
                  <a:pt x="1452562" y="22860"/>
                  <a:pt x="1469707" y="35242"/>
                  <a:pt x="1474470" y="59054"/>
                </a:cubicBezTo>
                <a:cubicBezTo>
                  <a:pt x="1475422" y="66675"/>
                  <a:pt x="1472564" y="74295"/>
                  <a:pt x="1474470" y="81914"/>
                </a:cubicBezTo>
                <a:moveTo>
                  <a:pt x="1406842" y="1351597"/>
                </a:moveTo>
                <a:cubicBezTo>
                  <a:pt x="1251584" y="1348740"/>
                  <a:pt x="1095375" y="1356359"/>
                  <a:pt x="941070" y="1351597"/>
                </a:cubicBezTo>
                <a:cubicBezTo>
                  <a:pt x="804862" y="1347787"/>
                  <a:pt x="669607" y="1357312"/>
                  <a:pt x="534352" y="1351597"/>
                </a:cubicBezTo>
                <a:cubicBezTo>
                  <a:pt x="381000" y="1345882"/>
                  <a:pt x="226695" y="1361122"/>
                  <a:pt x="74295" y="1351597"/>
                </a:cubicBezTo>
                <a:moveTo>
                  <a:pt x="1406842" y="1351597"/>
                </a:moveTo>
                <a:cubicBezTo>
                  <a:pt x="1414462" y="1351597"/>
                  <a:pt x="1422082" y="1349692"/>
                  <a:pt x="1428750" y="1351597"/>
                </a:cubicBezTo>
                <a:cubicBezTo>
                  <a:pt x="1452562" y="1359217"/>
                  <a:pt x="1473517" y="1331595"/>
                  <a:pt x="1474470" y="1306830"/>
                </a:cubicBezTo>
                <a:cubicBezTo>
                  <a:pt x="1474470" y="1299209"/>
                  <a:pt x="1471612" y="1291590"/>
                  <a:pt x="1474470" y="1283970"/>
                </a:cubicBezTo>
              </a:path>
            </a:pathLst>
          </a:custGeom>
          <a:noFill/>
          <a:ln w="16887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50125" y="2847889"/>
            <a:ext cx="1494472" cy="1354455"/>
          </a:xfrm>
          <a:custGeom>
            <a:avLst/>
            <a:gdLst/>
            <a:ahLst/>
            <a:cxnLst/>
            <a:rect l="0" t="0" r="0" b="0"/>
            <a:pathLst>
              <a:path w="1494472" h="1354455">
                <a:moveTo>
                  <a:pt x="9525" y="73266"/>
                </a:moveTo>
                <a:lnTo>
                  <a:pt x="9525" y="50749"/>
                </a:lnTo>
                <a:cubicBezTo>
                  <a:pt x="9525" y="25877"/>
                  <a:pt x="29687" y="5714"/>
                  <a:pt x="54559" y="5714"/>
                </a:cubicBezTo>
                <a:lnTo>
                  <a:pt x="77076" y="5714"/>
                </a:lnTo>
                <a:moveTo>
                  <a:pt x="9525" y="73266"/>
                </a:moveTo>
                <a:lnTo>
                  <a:pt x="9525" y="1275816"/>
                </a:lnTo>
                <a:moveTo>
                  <a:pt x="1480211" y="73266"/>
                </a:moveTo>
                <a:lnTo>
                  <a:pt x="1480211" y="1275816"/>
                </a:lnTo>
                <a:moveTo>
                  <a:pt x="77076" y="5714"/>
                </a:moveTo>
                <a:lnTo>
                  <a:pt x="1412660" y="5714"/>
                </a:lnTo>
                <a:moveTo>
                  <a:pt x="9525" y="1275816"/>
                </a:moveTo>
                <a:lnTo>
                  <a:pt x="9525" y="1298333"/>
                </a:lnTo>
                <a:cubicBezTo>
                  <a:pt x="9525" y="1323205"/>
                  <a:pt x="29687" y="1343368"/>
                  <a:pt x="54559" y="1343368"/>
                </a:cubicBezTo>
                <a:lnTo>
                  <a:pt x="77076" y="1343368"/>
                </a:lnTo>
                <a:moveTo>
                  <a:pt x="1480211" y="73266"/>
                </a:moveTo>
                <a:lnTo>
                  <a:pt x="1480211" y="50749"/>
                </a:lnTo>
                <a:cubicBezTo>
                  <a:pt x="1480211" y="25877"/>
                  <a:pt x="1460049" y="5714"/>
                  <a:pt x="1435177" y="5714"/>
                </a:cubicBezTo>
                <a:lnTo>
                  <a:pt x="1412660" y="5714"/>
                </a:lnTo>
                <a:moveTo>
                  <a:pt x="1412660" y="1343368"/>
                </a:moveTo>
                <a:lnTo>
                  <a:pt x="77076" y="1343368"/>
                </a:lnTo>
                <a:moveTo>
                  <a:pt x="1480211" y="1275816"/>
                </a:moveTo>
                <a:lnTo>
                  <a:pt x="1480211" y="1298333"/>
                </a:lnTo>
                <a:cubicBezTo>
                  <a:pt x="1480211" y="1323205"/>
                  <a:pt x="1460049" y="1343368"/>
                  <a:pt x="1435177" y="1343368"/>
                </a:cubicBezTo>
                <a:lnTo>
                  <a:pt x="1412660" y="1343368"/>
                </a:lnTo>
                <a:moveTo>
                  <a:pt x="77152" y="5714"/>
                </a:moveTo>
                <a:cubicBezTo>
                  <a:pt x="69532" y="2857"/>
                  <a:pt x="61912" y="3810"/>
                  <a:pt x="54292" y="5714"/>
                </a:cubicBezTo>
                <a:cubicBezTo>
                  <a:pt x="30480" y="11429"/>
                  <a:pt x="8572" y="25717"/>
                  <a:pt x="9525" y="50482"/>
                </a:cubicBezTo>
                <a:cubicBezTo>
                  <a:pt x="9525" y="58102"/>
                  <a:pt x="11430" y="65722"/>
                  <a:pt x="9525" y="73342"/>
                </a:cubicBezTo>
                <a:moveTo>
                  <a:pt x="9525" y="73342"/>
                </a:moveTo>
                <a:cubicBezTo>
                  <a:pt x="0" y="258127"/>
                  <a:pt x="3809" y="443864"/>
                  <a:pt x="9525" y="629602"/>
                </a:cubicBezTo>
                <a:cubicBezTo>
                  <a:pt x="16192" y="844867"/>
                  <a:pt x="5715" y="1060132"/>
                  <a:pt x="9525" y="1275397"/>
                </a:cubicBezTo>
                <a:moveTo>
                  <a:pt x="1480184" y="73342"/>
                </a:moveTo>
                <a:cubicBezTo>
                  <a:pt x="1491615" y="208597"/>
                  <a:pt x="1490662" y="345757"/>
                  <a:pt x="1480184" y="481964"/>
                </a:cubicBezTo>
                <a:cubicBezTo>
                  <a:pt x="1469707" y="621030"/>
                  <a:pt x="1463992" y="761999"/>
                  <a:pt x="1480184" y="900112"/>
                </a:cubicBezTo>
                <a:cubicBezTo>
                  <a:pt x="1494472" y="1024890"/>
                  <a:pt x="1488757" y="1150619"/>
                  <a:pt x="1480184" y="1275397"/>
                </a:cubicBezTo>
                <a:moveTo>
                  <a:pt x="77152" y="5714"/>
                </a:moveTo>
                <a:cubicBezTo>
                  <a:pt x="293369" y="2857"/>
                  <a:pt x="509587" y="11429"/>
                  <a:pt x="725805" y="5714"/>
                </a:cubicBezTo>
                <a:cubicBezTo>
                  <a:pt x="954405" y="0"/>
                  <a:pt x="1183957" y="2857"/>
                  <a:pt x="1412557" y="5714"/>
                </a:cubicBezTo>
                <a:moveTo>
                  <a:pt x="77152" y="1343024"/>
                </a:moveTo>
                <a:cubicBezTo>
                  <a:pt x="69532" y="1343977"/>
                  <a:pt x="61912" y="1344930"/>
                  <a:pt x="54292" y="1343024"/>
                </a:cubicBezTo>
                <a:cubicBezTo>
                  <a:pt x="30480" y="1337310"/>
                  <a:pt x="7619" y="1323022"/>
                  <a:pt x="9525" y="1298257"/>
                </a:cubicBezTo>
                <a:cubicBezTo>
                  <a:pt x="10477" y="1290637"/>
                  <a:pt x="12382" y="1283017"/>
                  <a:pt x="9525" y="1275397"/>
                </a:cubicBezTo>
                <a:moveTo>
                  <a:pt x="1412557" y="5714"/>
                </a:moveTo>
                <a:cubicBezTo>
                  <a:pt x="1420177" y="6667"/>
                  <a:pt x="1427797" y="6667"/>
                  <a:pt x="1435417" y="5714"/>
                </a:cubicBezTo>
                <a:cubicBezTo>
                  <a:pt x="1460182" y="1904"/>
                  <a:pt x="1484947" y="26669"/>
                  <a:pt x="1480184" y="50482"/>
                </a:cubicBezTo>
                <a:cubicBezTo>
                  <a:pt x="1478280" y="58102"/>
                  <a:pt x="1479232" y="65722"/>
                  <a:pt x="1480184" y="73342"/>
                </a:cubicBezTo>
                <a:moveTo>
                  <a:pt x="1412557" y="1343024"/>
                </a:moveTo>
                <a:cubicBezTo>
                  <a:pt x="1273492" y="1354455"/>
                  <a:pt x="1133475" y="1338262"/>
                  <a:pt x="994409" y="1343024"/>
                </a:cubicBezTo>
                <a:cubicBezTo>
                  <a:pt x="842962" y="1348740"/>
                  <a:pt x="691515" y="1342072"/>
                  <a:pt x="540067" y="1343024"/>
                </a:cubicBezTo>
                <a:cubicBezTo>
                  <a:pt x="385762" y="1344930"/>
                  <a:pt x="230505" y="1327785"/>
                  <a:pt x="77152" y="1343024"/>
                </a:cubicBezTo>
                <a:moveTo>
                  <a:pt x="1412557" y="1343024"/>
                </a:moveTo>
                <a:cubicBezTo>
                  <a:pt x="1419225" y="1340167"/>
                  <a:pt x="1427797" y="1345882"/>
                  <a:pt x="1435417" y="1343024"/>
                </a:cubicBezTo>
                <a:cubicBezTo>
                  <a:pt x="1458277" y="1334452"/>
                  <a:pt x="1483042" y="1323022"/>
                  <a:pt x="1480184" y="1298257"/>
                </a:cubicBezTo>
                <a:cubicBezTo>
                  <a:pt x="1479232" y="1290637"/>
                  <a:pt x="1478280" y="1283017"/>
                  <a:pt x="1480184" y="1275397"/>
                </a:cubicBezTo>
              </a:path>
            </a:pathLst>
          </a:custGeom>
          <a:noFill/>
          <a:ln w="16887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33336" y="2840269"/>
            <a:ext cx="1485900" cy="1366837"/>
          </a:xfrm>
          <a:custGeom>
            <a:avLst/>
            <a:gdLst/>
            <a:ahLst/>
            <a:cxnLst/>
            <a:rect l="0" t="0" r="0" b="0"/>
            <a:pathLst>
              <a:path w="1485900" h="1366837">
                <a:moveTo>
                  <a:pt x="7619" y="80886"/>
                </a:moveTo>
                <a:lnTo>
                  <a:pt x="7619" y="58369"/>
                </a:lnTo>
                <a:cubicBezTo>
                  <a:pt x="7619" y="33497"/>
                  <a:pt x="27782" y="13335"/>
                  <a:pt x="52654" y="13335"/>
                </a:cubicBezTo>
                <a:lnTo>
                  <a:pt x="75171" y="13335"/>
                </a:lnTo>
                <a:moveTo>
                  <a:pt x="7619" y="80886"/>
                </a:moveTo>
                <a:lnTo>
                  <a:pt x="7619" y="1283436"/>
                </a:lnTo>
                <a:moveTo>
                  <a:pt x="1474518" y="80886"/>
                </a:moveTo>
                <a:lnTo>
                  <a:pt x="1474518" y="1283436"/>
                </a:lnTo>
                <a:moveTo>
                  <a:pt x="75171" y="13335"/>
                </a:moveTo>
                <a:lnTo>
                  <a:pt x="1406967" y="13335"/>
                </a:lnTo>
                <a:moveTo>
                  <a:pt x="75171" y="1350988"/>
                </a:moveTo>
                <a:lnTo>
                  <a:pt x="52654" y="1350988"/>
                </a:lnTo>
                <a:cubicBezTo>
                  <a:pt x="27782" y="1350988"/>
                  <a:pt x="7619" y="1330825"/>
                  <a:pt x="7619" y="1305953"/>
                </a:cubicBezTo>
                <a:lnTo>
                  <a:pt x="7619" y="1283436"/>
                </a:lnTo>
                <a:moveTo>
                  <a:pt x="1474518" y="80886"/>
                </a:moveTo>
                <a:lnTo>
                  <a:pt x="1474518" y="58369"/>
                </a:lnTo>
                <a:cubicBezTo>
                  <a:pt x="1474518" y="33497"/>
                  <a:pt x="1454355" y="13335"/>
                  <a:pt x="1429484" y="13335"/>
                </a:cubicBezTo>
                <a:lnTo>
                  <a:pt x="1406967" y="13335"/>
                </a:lnTo>
                <a:moveTo>
                  <a:pt x="1406967" y="1350988"/>
                </a:moveTo>
                <a:lnTo>
                  <a:pt x="75171" y="1350988"/>
                </a:lnTo>
                <a:moveTo>
                  <a:pt x="1406967" y="1350988"/>
                </a:moveTo>
                <a:lnTo>
                  <a:pt x="1429484" y="1350988"/>
                </a:lnTo>
                <a:cubicBezTo>
                  <a:pt x="1454355" y="1350988"/>
                  <a:pt x="1474518" y="1330825"/>
                  <a:pt x="1474518" y="1305953"/>
                </a:cubicBezTo>
                <a:lnTo>
                  <a:pt x="1474518" y="1283436"/>
                </a:lnTo>
                <a:moveTo>
                  <a:pt x="75247" y="13335"/>
                </a:moveTo>
                <a:cubicBezTo>
                  <a:pt x="67627" y="12382"/>
                  <a:pt x="60007" y="12382"/>
                  <a:pt x="52387" y="13335"/>
                </a:cubicBezTo>
                <a:cubicBezTo>
                  <a:pt x="28575" y="17145"/>
                  <a:pt x="15239" y="35242"/>
                  <a:pt x="7619" y="58102"/>
                </a:cubicBezTo>
                <a:cubicBezTo>
                  <a:pt x="5714" y="65722"/>
                  <a:pt x="5714" y="73342"/>
                  <a:pt x="7619" y="80962"/>
                </a:cubicBezTo>
                <a:moveTo>
                  <a:pt x="7619" y="80962"/>
                </a:moveTo>
                <a:cubicBezTo>
                  <a:pt x="0" y="293369"/>
                  <a:pt x="1904" y="506730"/>
                  <a:pt x="7619" y="720090"/>
                </a:cubicBezTo>
                <a:cubicBezTo>
                  <a:pt x="13334" y="907732"/>
                  <a:pt x="11429" y="1095375"/>
                  <a:pt x="7619" y="1283017"/>
                </a:cubicBezTo>
                <a:moveTo>
                  <a:pt x="1474469" y="80962"/>
                </a:moveTo>
                <a:cubicBezTo>
                  <a:pt x="1483042" y="290512"/>
                  <a:pt x="1485900" y="501967"/>
                  <a:pt x="1474469" y="711517"/>
                </a:cubicBezTo>
                <a:cubicBezTo>
                  <a:pt x="1463992" y="902017"/>
                  <a:pt x="1474469" y="1092517"/>
                  <a:pt x="1474469" y="1283017"/>
                </a:cubicBezTo>
                <a:moveTo>
                  <a:pt x="75247" y="13335"/>
                </a:moveTo>
                <a:cubicBezTo>
                  <a:pt x="221932" y="11430"/>
                  <a:pt x="369569" y="0"/>
                  <a:pt x="516254" y="13335"/>
                </a:cubicBezTo>
                <a:cubicBezTo>
                  <a:pt x="659129" y="25717"/>
                  <a:pt x="803909" y="16192"/>
                  <a:pt x="947737" y="13335"/>
                </a:cubicBezTo>
                <a:cubicBezTo>
                  <a:pt x="1101089" y="10477"/>
                  <a:pt x="1254442" y="5714"/>
                  <a:pt x="1406842" y="13335"/>
                </a:cubicBezTo>
                <a:moveTo>
                  <a:pt x="75247" y="1350644"/>
                </a:moveTo>
                <a:cubicBezTo>
                  <a:pt x="67627" y="1350644"/>
                  <a:pt x="60007" y="1350644"/>
                  <a:pt x="52387" y="1350644"/>
                </a:cubicBezTo>
                <a:cubicBezTo>
                  <a:pt x="27622" y="1351597"/>
                  <a:pt x="4762" y="1330642"/>
                  <a:pt x="7619" y="1305877"/>
                </a:cubicBezTo>
                <a:cubicBezTo>
                  <a:pt x="8572" y="1298257"/>
                  <a:pt x="10477" y="1290637"/>
                  <a:pt x="7619" y="1283017"/>
                </a:cubicBezTo>
                <a:moveTo>
                  <a:pt x="1406842" y="13335"/>
                </a:moveTo>
                <a:cubicBezTo>
                  <a:pt x="1414462" y="14287"/>
                  <a:pt x="1422082" y="13335"/>
                  <a:pt x="1429702" y="13335"/>
                </a:cubicBezTo>
                <a:cubicBezTo>
                  <a:pt x="1454467" y="14287"/>
                  <a:pt x="1481137" y="34289"/>
                  <a:pt x="1474469" y="58102"/>
                </a:cubicBezTo>
                <a:cubicBezTo>
                  <a:pt x="1472564" y="65722"/>
                  <a:pt x="1473517" y="73342"/>
                  <a:pt x="1474469" y="80962"/>
                </a:cubicBezTo>
                <a:moveTo>
                  <a:pt x="1406842" y="1350644"/>
                </a:moveTo>
                <a:cubicBezTo>
                  <a:pt x="1194434" y="1355407"/>
                  <a:pt x="981075" y="1336357"/>
                  <a:pt x="768667" y="1350644"/>
                </a:cubicBezTo>
                <a:cubicBezTo>
                  <a:pt x="538162" y="1366837"/>
                  <a:pt x="306704" y="1348740"/>
                  <a:pt x="75247" y="1350644"/>
                </a:cubicBezTo>
                <a:moveTo>
                  <a:pt x="1406842" y="1350644"/>
                </a:moveTo>
                <a:cubicBezTo>
                  <a:pt x="1414462" y="1349692"/>
                  <a:pt x="1422082" y="1350644"/>
                  <a:pt x="1429702" y="1350644"/>
                </a:cubicBezTo>
                <a:cubicBezTo>
                  <a:pt x="1454467" y="1351597"/>
                  <a:pt x="1468754" y="1329690"/>
                  <a:pt x="1474469" y="1305877"/>
                </a:cubicBezTo>
                <a:cubicBezTo>
                  <a:pt x="1476375" y="1298257"/>
                  <a:pt x="1472564" y="1290637"/>
                  <a:pt x="1474469" y="1283017"/>
                </a:cubicBezTo>
              </a:path>
            </a:pathLst>
          </a:custGeom>
          <a:noFill/>
          <a:ln w="16887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1871045" y="3454804"/>
            <a:ext cx="795337" cy="135255"/>
            <a:chOff x="1868162" y="2889885"/>
            <a:chExt cx="795337" cy="135255"/>
          </a:xfrm>
        </p:grpSpPr>
        <p:sp>
          <p:nvSpPr>
            <p:cNvPr id="6" name="Rounded Rectangle 5"/>
            <p:cNvSpPr/>
            <p:nvPr/>
          </p:nvSpPr>
          <p:spPr>
            <a:xfrm>
              <a:off x="1868162" y="2956560"/>
              <a:ext cx="789908" cy="9525"/>
            </a:xfrm>
            <a:custGeom>
              <a:avLst/>
              <a:gdLst/>
              <a:ahLst/>
              <a:cxnLst/>
              <a:rect l="0" t="0" r="0" b="0"/>
              <a:pathLst>
                <a:path w="789908" h="9525">
                  <a:moveTo>
                    <a:pt x="0" y="952"/>
                  </a:moveTo>
                  <a:lnTo>
                    <a:pt x="789908" y="952"/>
                  </a:lnTo>
                  <a:moveTo>
                    <a:pt x="0" y="952"/>
                  </a:moveTo>
                  <a:cubicBezTo>
                    <a:pt x="131444" y="1905"/>
                    <a:pt x="261937" y="1905"/>
                    <a:pt x="392429" y="952"/>
                  </a:cubicBezTo>
                  <a:cubicBezTo>
                    <a:pt x="524827" y="0"/>
                    <a:pt x="658177" y="7620"/>
                    <a:pt x="789622" y="952"/>
                  </a:cubicBezTo>
                </a:path>
              </a:pathLst>
            </a:custGeom>
            <a:noFill/>
            <a:ln w="16887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595872" y="2889885"/>
              <a:ext cx="67627" cy="135255"/>
            </a:xfrm>
            <a:custGeom>
              <a:avLst/>
              <a:gdLst/>
              <a:ahLst/>
              <a:cxnLst/>
              <a:rect l="0" t="0" r="0" b="0"/>
              <a:pathLst>
                <a:path w="67627" h="135255">
                  <a:moveTo>
                    <a:pt x="0" y="135255"/>
                  </a:moveTo>
                  <a:lnTo>
                    <a:pt x="67627" y="67627"/>
                  </a:lnTo>
                  <a:lnTo>
                    <a:pt x="0" y="0"/>
                  </a:lnTo>
                  <a:moveTo>
                    <a:pt x="0" y="0"/>
                  </a:moveTo>
                  <a:cubicBezTo>
                    <a:pt x="24764" y="20002"/>
                    <a:pt x="46672" y="43815"/>
                    <a:pt x="67627" y="67627"/>
                  </a:cubicBezTo>
                  <a:cubicBezTo>
                    <a:pt x="45719" y="90487"/>
                    <a:pt x="22859" y="113347"/>
                    <a:pt x="0" y="135255"/>
                  </a:cubicBezTo>
                </a:path>
              </a:pathLst>
            </a:custGeom>
            <a:noFill/>
            <a:ln w="16887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149032" y="3454804"/>
            <a:ext cx="795337" cy="135255"/>
            <a:chOff x="4146149" y="2889885"/>
            <a:chExt cx="795337" cy="135255"/>
          </a:xfrm>
        </p:grpSpPr>
        <p:sp>
          <p:nvSpPr>
            <p:cNvPr id="9" name="Rounded Rectangle 8"/>
            <p:cNvSpPr/>
            <p:nvPr/>
          </p:nvSpPr>
          <p:spPr>
            <a:xfrm>
              <a:off x="4146149" y="2945130"/>
              <a:ext cx="789908" cy="18097"/>
            </a:xfrm>
            <a:custGeom>
              <a:avLst/>
              <a:gdLst/>
              <a:ahLst/>
              <a:cxnLst/>
              <a:rect l="0" t="0" r="0" b="0"/>
              <a:pathLst>
                <a:path w="789908" h="18097">
                  <a:moveTo>
                    <a:pt x="0" y="12382"/>
                  </a:moveTo>
                  <a:lnTo>
                    <a:pt x="789908" y="12382"/>
                  </a:lnTo>
                  <a:moveTo>
                    <a:pt x="0" y="12382"/>
                  </a:moveTo>
                  <a:cubicBezTo>
                    <a:pt x="262890" y="18097"/>
                    <a:pt x="526732" y="0"/>
                    <a:pt x="789622" y="12382"/>
                  </a:cubicBezTo>
                </a:path>
              </a:pathLst>
            </a:custGeom>
            <a:noFill/>
            <a:ln w="16887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873859" y="2889885"/>
              <a:ext cx="67627" cy="135255"/>
            </a:xfrm>
            <a:custGeom>
              <a:avLst/>
              <a:gdLst/>
              <a:ahLst/>
              <a:cxnLst/>
              <a:rect l="0" t="0" r="0" b="0"/>
              <a:pathLst>
                <a:path w="67627" h="135255">
                  <a:moveTo>
                    <a:pt x="0" y="135255"/>
                  </a:moveTo>
                  <a:lnTo>
                    <a:pt x="67627" y="67627"/>
                  </a:lnTo>
                  <a:lnTo>
                    <a:pt x="0" y="0"/>
                  </a:lnTo>
                  <a:moveTo>
                    <a:pt x="0" y="0"/>
                  </a:moveTo>
                  <a:cubicBezTo>
                    <a:pt x="23812" y="20955"/>
                    <a:pt x="41909" y="48577"/>
                    <a:pt x="67627" y="67627"/>
                  </a:cubicBezTo>
                  <a:cubicBezTo>
                    <a:pt x="40957" y="84772"/>
                    <a:pt x="26670" y="117157"/>
                    <a:pt x="0" y="135255"/>
                  </a:cubicBezTo>
                </a:path>
              </a:pathLst>
            </a:custGeom>
            <a:noFill/>
            <a:ln w="16887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430338" y="3454804"/>
            <a:ext cx="795337" cy="135255"/>
            <a:chOff x="6427455" y="2889885"/>
            <a:chExt cx="795337" cy="135255"/>
          </a:xfrm>
        </p:grpSpPr>
        <p:sp>
          <p:nvSpPr>
            <p:cNvPr id="12" name="Rounded Rectangle 11"/>
            <p:cNvSpPr/>
            <p:nvPr/>
          </p:nvSpPr>
          <p:spPr>
            <a:xfrm>
              <a:off x="6427455" y="2956560"/>
              <a:ext cx="789908" cy="9525"/>
            </a:xfrm>
            <a:custGeom>
              <a:avLst/>
              <a:gdLst/>
              <a:ahLst/>
              <a:cxnLst/>
              <a:rect l="0" t="0" r="0" b="0"/>
              <a:pathLst>
                <a:path w="789908" h="9525">
                  <a:moveTo>
                    <a:pt x="0" y="952"/>
                  </a:moveTo>
                  <a:lnTo>
                    <a:pt x="789908" y="952"/>
                  </a:lnTo>
                  <a:moveTo>
                    <a:pt x="0" y="952"/>
                  </a:moveTo>
                  <a:cubicBezTo>
                    <a:pt x="262890" y="0"/>
                    <a:pt x="526732" y="9525"/>
                    <a:pt x="789622" y="952"/>
                  </a:cubicBezTo>
                </a:path>
              </a:pathLst>
            </a:custGeom>
            <a:noFill/>
            <a:ln w="16887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155165" y="2889885"/>
              <a:ext cx="67627" cy="135255"/>
            </a:xfrm>
            <a:custGeom>
              <a:avLst/>
              <a:gdLst/>
              <a:ahLst/>
              <a:cxnLst/>
              <a:rect l="0" t="0" r="0" b="0"/>
              <a:pathLst>
                <a:path w="67627" h="135255">
                  <a:moveTo>
                    <a:pt x="0" y="135255"/>
                  </a:moveTo>
                  <a:lnTo>
                    <a:pt x="67627" y="67627"/>
                  </a:lnTo>
                  <a:lnTo>
                    <a:pt x="0" y="0"/>
                  </a:lnTo>
                  <a:moveTo>
                    <a:pt x="0" y="0"/>
                  </a:moveTo>
                  <a:cubicBezTo>
                    <a:pt x="29527" y="12382"/>
                    <a:pt x="40957" y="49530"/>
                    <a:pt x="67627" y="67627"/>
                  </a:cubicBezTo>
                  <a:cubicBezTo>
                    <a:pt x="49530" y="93345"/>
                    <a:pt x="21907" y="111442"/>
                    <a:pt x="0" y="135255"/>
                  </a:cubicBezTo>
                </a:path>
              </a:pathLst>
            </a:custGeom>
            <a:noFill/>
            <a:ln w="16887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436768" y="936394"/>
            <a:ext cx="4276229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DFE7EE"/>
                </a:solidFill>
                <a:latin typeface="Shantell Sans"/>
              </a:rPr>
              <a:t>Le flux d'appel client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3623" y="2958308"/>
            <a:ext cx="264576" cy="266828"/>
          </a:xfrm>
          <a:custGeom>
            <a:avLst/>
            <a:gdLst/>
            <a:ahLst/>
            <a:cxnLst/>
            <a:rect l="0" t="0" r="0" b="0"/>
            <a:pathLst>
              <a:path w="264576" h="266828">
                <a:moveTo>
                  <a:pt x="69803" y="86702"/>
                </a:moveTo>
                <a:lnTo>
                  <a:pt x="69803" y="86702"/>
                </a:lnTo>
                <a:cubicBezTo>
                  <a:pt x="69803" y="71157"/>
                  <a:pt x="97526" y="58555"/>
                  <a:pt x="131725" y="58555"/>
                </a:cubicBezTo>
                <a:cubicBezTo>
                  <a:pt x="165924" y="58555"/>
                  <a:pt x="193647" y="71157"/>
                  <a:pt x="193647" y="86702"/>
                </a:cubicBezTo>
                <a:cubicBezTo>
                  <a:pt x="193647" y="102247"/>
                  <a:pt x="165924" y="114848"/>
                  <a:pt x="131725" y="114848"/>
                </a:cubicBezTo>
                <a:cubicBezTo>
                  <a:pt x="97526" y="114848"/>
                  <a:pt x="69803" y="102247"/>
                  <a:pt x="69803" y="86702"/>
                </a:cubicBezTo>
                <a:close/>
                <a:moveTo>
                  <a:pt x="204906" y="19150"/>
                </a:moveTo>
                <a:cubicBezTo>
                  <a:pt x="204906" y="9823"/>
                  <a:pt x="217507" y="2262"/>
                  <a:pt x="233052" y="2262"/>
                </a:cubicBezTo>
                <a:cubicBezTo>
                  <a:pt x="248597" y="2262"/>
                  <a:pt x="261199" y="9823"/>
                  <a:pt x="261199" y="19150"/>
                </a:cubicBezTo>
                <a:cubicBezTo>
                  <a:pt x="261199" y="28477"/>
                  <a:pt x="248597" y="36038"/>
                  <a:pt x="233052" y="36038"/>
                </a:cubicBezTo>
                <a:cubicBezTo>
                  <a:pt x="217507" y="36038"/>
                  <a:pt x="204906" y="28477"/>
                  <a:pt x="204906" y="19150"/>
                </a:cubicBezTo>
                <a:close/>
                <a:moveTo>
                  <a:pt x="204906" y="19139"/>
                </a:moveTo>
                <a:lnTo>
                  <a:pt x="204906" y="52915"/>
                </a:lnTo>
                <a:cubicBezTo>
                  <a:pt x="204906" y="62248"/>
                  <a:pt x="217504" y="69803"/>
                  <a:pt x="233052" y="69803"/>
                </a:cubicBezTo>
                <a:cubicBezTo>
                  <a:pt x="248600" y="69803"/>
                  <a:pt x="261199" y="62237"/>
                  <a:pt x="261199" y="52915"/>
                </a:cubicBezTo>
                <a:lnTo>
                  <a:pt x="261199" y="19139"/>
                </a:lnTo>
                <a:moveTo>
                  <a:pt x="2251" y="19150"/>
                </a:moveTo>
                <a:cubicBezTo>
                  <a:pt x="2251" y="28477"/>
                  <a:pt x="14853" y="36038"/>
                  <a:pt x="30398" y="36038"/>
                </a:cubicBezTo>
                <a:cubicBezTo>
                  <a:pt x="45943" y="36038"/>
                  <a:pt x="58544" y="28477"/>
                  <a:pt x="58544" y="19150"/>
                </a:cubicBezTo>
                <a:cubicBezTo>
                  <a:pt x="58544" y="9823"/>
                  <a:pt x="45943" y="2262"/>
                  <a:pt x="30398" y="2262"/>
                </a:cubicBezTo>
                <a:cubicBezTo>
                  <a:pt x="14853" y="2262"/>
                  <a:pt x="2251" y="9823"/>
                  <a:pt x="2251" y="19150"/>
                </a:cubicBezTo>
                <a:close/>
                <a:moveTo>
                  <a:pt x="2251" y="19139"/>
                </a:moveTo>
                <a:lnTo>
                  <a:pt x="2251" y="52915"/>
                </a:lnTo>
                <a:cubicBezTo>
                  <a:pt x="2251" y="62248"/>
                  <a:pt x="14850" y="69803"/>
                  <a:pt x="30398" y="69803"/>
                </a:cubicBezTo>
                <a:cubicBezTo>
                  <a:pt x="45946" y="69803"/>
                  <a:pt x="58544" y="62237"/>
                  <a:pt x="58544" y="52915"/>
                </a:cubicBezTo>
                <a:lnTo>
                  <a:pt x="58544" y="19139"/>
                </a:lnTo>
                <a:moveTo>
                  <a:pt x="204906" y="210546"/>
                </a:moveTo>
                <a:lnTo>
                  <a:pt x="204906" y="210546"/>
                </a:lnTo>
                <a:cubicBezTo>
                  <a:pt x="204906" y="201219"/>
                  <a:pt x="217507" y="193658"/>
                  <a:pt x="233052" y="193658"/>
                </a:cubicBezTo>
                <a:cubicBezTo>
                  <a:pt x="248597" y="193658"/>
                  <a:pt x="261199" y="201219"/>
                  <a:pt x="261199" y="210546"/>
                </a:cubicBezTo>
                <a:cubicBezTo>
                  <a:pt x="261199" y="219873"/>
                  <a:pt x="248597" y="227434"/>
                  <a:pt x="233052" y="227434"/>
                </a:cubicBezTo>
                <a:cubicBezTo>
                  <a:pt x="217507" y="227434"/>
                  <a:pt x="204906" y="219873"/>
                  <a:pt x="204906" y="210546"/>
                </a:cubicBezTo>
                <a:close/>
                <a:moveTo>
                  <a:pt x="204906" y="210535"/>
                </a:moveTo>
                <a:lnTo>
                  <a:pt x="204906" y="244311"/>
                </a:lnTo>
                <a:cubicBezTo>
                  <a:pt x="204906" y="253633"/>
                  <a:pt x="217504" y="261199"/>
                  <a:pt x="233052" y="261199"/>
                </a:cubicBezTo>
                <a:cubicBezTo>
                  <a:pt x="248600" y="261199"/>
                  <a:pt x="261199" y="253633"/>
                  <a:pt x="261199" y="244311"/>
                </a:cubicBezTo>
                <a:lnTo>
                  <a:pt x="261199" y="210535"/>
                </a:lnTo>
                <a:moveTo>
                  <a:pt x="2251" y="210546"/>
                </a:moveTo>
                <a:lnTo>
                  <a:pt x="2251" y="210546"/>
                </a:lnTo>
                <a:cubicBezTo>
                  <a:pt x="2251" y="201219"/>
                  <a:pt x="14853" y="193658"/>
                  <a:pt x="30398" y="193658"/>
                </a:cubicBezTo>
                <a:cubicBezTo>
                  <a:pt x="45943" y="193658"/>
                  <a:pt x="58544" y="201219"/>
                  <a:pt x="58544" y="210546"/>
                </a:cubicBezTo>
                <a:cubicBezTo>
                  <a:pt x="58544" y="219873"/>
                  <a:pt x="45943" y="227434"/>
                  <a:pt x="30398" y="227434"/>
                </a:cubicBezTo>
                <a:cubicBezTo>
                  <a:pt x="14853" y="227434"/>
                  <a:pt x="2251" y="219873"/>
                  <a:pt x="2251" y="210546"/>
                </a:cubicBezTo>
                <a:close/>
                <a:moveTo>
                  <a:pt x="2251" y="210535"/>
                </a:moveTo>
                <a:lnTo>
                  <a:pt x="2251" y="244311"/>
                </a:lnTo>
                <a:cubicBezTo>
                  <a:pt x="2251" y="253644"/>
                  <a:pt x="14850" y="261199"/>
                  <a:pt x="30398" y="261199"/>
                </a:cubicBezTo>
                <a:cubicBezTo>
                  <a:pt x="45946" y="261199"/>
                  <a:pt x="58544" y="253633"/>
                  <a:pt x="58544" y="244311"/>
                </a:cubicBezTo>
                <a:lnTo>
                  <a:pt x="58544" y="210535"/>
                </a:lnTo>
                <a:moveTo>
                  <a:pt x="69803" y="131725"/>
                </a:moveTo>
                <a:cubicBezTo>
                  <a:pt x="69803" y="147284"/>
                  <a:pt x="97533" y="159871"/>
                  <a:pt x="131725" y="159871"/>
                </a:cubicBezTo>
                <a:cubicBezTo>
                  <a:pt x="165917" y="159871"/>
                  <a:pt x="193647" y="147273"/>
                  <a:pt x="193647" y="131725"/>
                </a:cubicBezTo>
                <a:moveTo>
                  <a:pt x="193647" y="86691"/>
                </a:moveTo>
                <a:lnTo>
                  <a:pt x="193647" y="176759"/>
                </a:lnTo>
                <a:cubicBezTo>
                  <a:pt x="193647" y="192307"/>
                  <a:pt x="165917" y="204906"/>
                  <a:pt x="131725" y="204906"/>
                </a:cubicBezTo>
                <a:cubicBezTo>
                  <a:pt x="97533" y="204906"/>
                  <a:pt x="69803" y="192307"/>
                  <a:pt x="69803" y="176759"/>
                </a:cubicBezTo>
                <a:lnTo>
                  <a:pt x="69803" y="86691"/>
                </a:lnTo>
                <a:moveTo>
                  <a:pt x="56394" y="59422"/>
                </a:moveTo>
                <a:lnTo>
                  <a:pt x="73754" y="76783"/>
                </a:lnTo>
                <a:moveTo>
                  <a:pt x="207056" y="59422"/>
                </a:moveTo>
                <a:lnTo>
                  <a:pt x="189695" y="76783"/>
                </a:lnTo>
                <a:moveTo>
                  <a:pt x="56912" y="204872"/>
                </a:moveTo>
                <a:lnTo>
                  <a:pt x="74374" y="187399"/>
                </a:lnTo>
                <a:moveTo>
                  <a:pt x="206538" y="204872"/>
                </a:moveTo>
                <a:lnTo>
                  <a:pt x="189076" y="187399"/>
                </a:lnTo>
                <a:moveTo>
                  <a:pt x="69803" y="86691"/>
                </a:moveTo>
                <a:cubicBezTo>
                  <a:pt x="68677" y="102453"/>
                  <a:pt x="97949" y="113711"/>
                  <a:pt x="131725" y="114837"/>
                </a:cubicBezTo>
                <a:cubicBezTo>
                  <a:pt x="165501" y="115963"/>
                  <a:pt x="192521" y="102453"/>
                  <a:pt x="193647" y="86691"/>
                </a:cubicBezTo>
                <a:cubicBezTo>
                  <a:pt x="194773" y="70929"/>
                  <a:pt x="165501" y="61922"/>
                  <a:pt x="131725" y="58544"/>
                </a:cubicBezTo>
                <a:cubicBezTo>
                  <a:pt x="97949" y="55167"/>
                  <a:pt x="74306" y="72054"/>
                  <a:pt x="69803" y="86691"/>
                </a:cubicBezTo>
                <a:moveTo>
                  <a:pt x="204906" y="19139"/>
                </a:moveTo>
                <a:cubicBezTo>
                  <a:pt x="207157" y="28146"/>
                  <a:pt x="217290" y="34901"/>
                  <a:pt x="233052" y="36027"/>
                </a:cubicBezTo>
                <a:cubicBezTo>
                  <a:pt x="248814" y="37153"/>
                  <a:pt x="264576" y="28146"/>
                  <a:pt x="261199" y="19139"/>
                </a:cubicBezTo>
                <a:cubicBezTo>
                  <a:pt x="257821" y="10132"/>
                  <a:pt x="248814" y="5629"/>
                  <a:pt x="233052" y="2251"/>
                </a:cubicBezTo>
                <a:cubicBezTo>
                  <a:pt x="217290" y="0"/>
                  <a:pt x="204906" y="10132"/>
                  <a:pt x="204906" y="19139"/>
                </a:cubicBezTo>
                <a:moveTo>
                  <a:pt x="261199" y="19139"/>
                </a:moveTo>
                <a:cubicBezTo>
                  <a:pt x="258947" y="30398"/>
                  <a:pt x="261199" y="41656"/>
                  <a:pt x="261199" y="52915"/>
                </a:cubicBezTo>
                <a:cubicBezTo>
                  <a:pt x="261199" y="61922"/>
                  <a:pt x="248814" y="67551"/>
                  <a:pt x="233052" y="69803"/>
                </a:cubicBezTo>
                <a:cubicBezTo>
                  <a:pt x="217290" y="72054"/>
                  <a:pt x="206032" y="61922"/>
                  <a:pt x="204906" y="52915"/>
                </a:cubicBezTo>
                <a:cubicBezTo>
                  <a:pt x="202654" y="41656"/>
                  <a:pt x="201528" y="30398"/>
                  <a:pt x="204906" y="19139"/>
                </a:cubicBezTo>
                <a:moveTo>
                  <a:pt x="2251" y="19139"/>
                </a:moveTo>
                <a:cubicBezTo>
                  <a:pt x="4503" y="28146"/>
                  <a:pt x="14636" y="36027"/>
                  <a:pt x="30398" y="36027"/>
                </a:cubicBezTo>
                <a:cubicBezTo>
                  <a:pt x="46160" y="36027"/>
                  <a:pt x="55167" y="28146"/>
                  <a:pt x="58544" y="19139"/>
                </a:cubicBezTo>
                <a:cubicBezTo>
                  <a:pt x="61922" y="10132"/>
                  <a:pt x="46160" y="3377"/>
                  <a:pt x="30398" y="2251"/>
                </a:cubicBezTo>
                <a:cubicBezTo>
                  <a:pt x="14636" y="2251"/>
                  <a:pt x="1125" y="10132"/>
                  <a:pt x="2251" y="19139"/>
                </a:cubicBezTo>
                <a:moveTo>
                  <a:pt x="58544" y="19139"/>
                </a:moveTo>
                <a:cubicBezTo>
                  <a:pt x="57418" y="30398"/>
                  <a:pt x="63048" y="42782"/>
                  <a:pt x="58544" y="52915"/>
                </a:cubicBezTo>
                <a:cubicBezTo>
                  <a:pt x="55167" y="61922"/>
                  <a:pt x="46160" y="69803"/>
                  <a:pt x="30398" y="69803"/>
                </a:cubicBezTo>
                <a:cubicBezTo>
                  <a:pt x="14636" y="69803"/>
                  <a:pt x="0" y="61922"/>
                  <a:pt x="2251" y="52915"/>
                </a:cubicBezTo>
                <a:cubicBezTo>
                  <a:pt x="4503" y="41656"/>
                  <a:pt x="1125" y="30398"/>
                  <a:pt x="2251" y="19139"/>
                </a:cubicBezTo>
                <a:moveTo>
                  <a:pt x="204906" y="210535"/>
                </a:moveTo>
                <a:cubicBezTo>
                  <a:pt x="204906" y="219542"/>
                  <a:pt x="218416" y="233052"/>
                  <a:pt x="233052" y="227423"/>
                </a:cubicBezTo>
                <a:cubicBezTo>
                  <a:pt x="247688" y="221794"/>
                  <a:pt x="258947" y="219542"/>
                  <a:pt x="261199" y="210535"/>
                </a:cubicBezTo>
                <a:cubicBezTo>
                  <a:pt x="264576" y="201528"/>
                  <a:pt x="248814" y="194773"/>
                  <a:pt x="233052" y="193647"/>
                </a:cubicBezTo>
                <a:cubicBezTo>
                  <a:pt x="217290" y="192521"/>
                  <a:pt x="204906" y="201528"/>
                  <a:pt x="204906" y="210535"/>
                </a:cubicBezTo>
                <a:moveTo>
                  <a:pt x="261199" y="210535"/>
                </a:moveTo>
                <a:cubicBezTo>
                  <a:pt x="264576" y="221794"/>
                  <a:pt x="263450" y="233052"/>
                  <a:pt x="261199" y="244311"/>
                </a:cubicBezTo>
                <a:cubicBezTo>
                  <a:pt x="260073" y="253318"/>
                  <a:pt x="247688" y="266828"/>
                  <a:pt x="233052" y="261199"/>
                </a:cubicBezTo>
                <a:cubicBezTo>
                  <a:pt x="218416" y="255569"/>
                  <a:pt x="203780" y="253318"/>
                  <a:pt x="204906" y="244311"/>
                </a:cubicBezTo>
                <a:cubicBezTo>
                  <a:pt x="206032" y="233052"/>
                  <a:pt x="204906" y="221794"/>
                  <a:pt x="204906" y="210535"/>
                </a:cubicBezTo>
                <a:moveTo>
                  <a:pt x="2251" y="210535"/>
                </a:moveTo>
                <a:cubicBezTo>
                  <a:pt x="2251" y="219542"/>
                  <a:pt x="14636" y="228549"/>
                  <a:pt x="30398" y="227423"/>
                </a:cubicBezTo>
                <a:cubicBezTo>
                  <a:pt x="46160" y="226297"/>
                  <a:pt x="55167" y="219542"/>
                  <a:pt x="58544" y="210535"/>
                </a:cubicBezTo>
                <a:cubicBezTo>
                  <a:pt x="61922" y="201528"/>
                  <a:pt x="46160" y="194773"/>
                  <a:pt x="30398" y="193647"/>
                </a:cubicBezTo>
                <a:cubicBezTo>
                  <a:pt x="14636" y="192521"/>
                  <a:pt x="3377" y="201528"/>
                  <a:pt x="2251" y="210535"/>
                </a:cubicBezTo>
                <a:moveTo>
                  <a:pt x="58544" y="210535"/>
                </a:moveTo>
                <a:cubicBezTo>
                  <a:pt x="60796" y="221794"/>
                  <a:pt x="56292" y="233052"/>
                  <a:pt x="58544" y="244311"/>
                </a:cubicBezTo>
                <a:cubicBezTo>
                  <a:pt x="60796" y="253318"/>
                  <a:pt x="46160" y="262325"/>
                  <a:pt x="30398" y="261199"/>
                </a:cubicBezTo>
                <a:cubicBezTo>
                  <a:pt x="14636" y="260073"/>
                  <a:pt x="4503" y="253318"/>
                  <a:pt x="2251" y="244311"/>
                </a:cubicBezTo>
                <a:cubicBezTo>
                  <a:pt x="0" y="233052"/>
                  <a:pt x="2251" y="221794"/>
                  <a:pt x="2251" y="210535"/>
                </a:cubicBezTo>
                <a:moveTo>
                  <a:pt x="193647" y="131725"/>
                </a:moveTo>
                <a:cubicBezTo>
                  <a:pt x="189144" y="146361"/>
                  <a:pt x="165501" y="154242"/>
                  <a:pt x="131725" y="159871"/>
                </a:cubicBezTo>
                <a:cubicBezTo>
                  <a:pt x="97949" y="165501"/>
                  <a:pt x="68677" y="147487"/>
                  <a:pt x="69803" y="131725"/>
                </a:cubicBezTo>
                <a:moveTo>
                  <a:pt x="69803" y="86691"/>
                </a:moveTo>
                <a:cubicBezTo>
                  <a:pt x="72054" y="117089"/>
                  <a:pt x="60796" y="148613"/>
                  <a:pt x="69803" y="176759"/>
                </a:cubicBezTo>
                <a:cubicBezTo>
                  <a:pt x="74306" y="191395"/>
                  <a:pt x="99075" y="213913"/>
                  <a:pt x="131725" y="204906"/>
                </a:cubicBezTo>
                <a:cubicBezTo>
                  <a:pt x="164375" y="195899"/>
                  <a:pt x="198151" y="191395"/>
                  <a:pt x="193647" y="176759"/>
                </a:cubicBezTo>
                <a:cubicBezTo>
                  <a:pt x="184640" y="148613"/>
                  <a:pt x="194773" y="117089"/>
                  <a:pt x="193647" y="86691"/>
                </a:cubicBezTo>
                <a:moveTo>
                  <a:pt x="56292" y="59670"/>
                </a:moveTo>
                <a:cubicBezTo>
                  <a:pt x="60796" y="66425"/>
                  <a:pt x="67551" y="70929"/>
                  <a:pt x="74306" y="76558"/>
                </a:cubicBezTo>
                <a:moveTo>
                  <a:pt x="207157" y="59670"/>
                </a:moveTo>
                <a:cubicBezTo>
                  <a:pt x="200402" y="65299"/>
                  <a:pt x="197025" y="73180"/>
                  <a:pt x="189144" y="76558"/>
                </a:cubicBezTo>
                <a:moveTo>
                  <a:pt x="57418" y="204906"/>
                </a:moveTo>
                <a:cubicBezTo>
                  <a:pt x="64173" y="200402"/>
                  <a:pt x="68677" y="193647"/>
                  <a:pt x="74306" y="186892"/>
                </a:cubicBezTo>
                <a:moveTo>
                  <a:pt x="206032" y="204906"/>
                </a:moveTo>
                <a:cubicBezTo>
                  <a:pt x="199276" y="201528"/>
                  <a:pt x="195899" y="192521"/>
                  <a:pt x="189144" y="186892"/>
                </a:cubicBezTo>
              </a:path>
            </a:pathLst>
          </a:custGeom>
          <a:noFill/>
          <a:ln w="16887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0381" y="3030383"/>
            <a:ext cx="251066" cy="253685"/>
          </a:xfrm>
          <a:custGeom>
            <a:avLst/>
            <a:gdLst/>
            <a:ahLst/>
            <a:cxnLst/>
            <a:rect l="0" t="0" r="0" b="0"/>
            <a:pathLst>
              <a:path w="251066" h="253685">
                <a:moveTo>
                  <a:pt x="3812" y="253685"/>
                </a:moveTo>
                <a:cubicBezTo>
                  <a:pt x="3812" y="239790"/>
                  <a:pt x="9332" y="226465"/>
                  <a:pt x="19156" y="216641"/>
                </a:cubicBezTo>
                <a:cubicBezTo>
                  <a:pt x="28981" y="206816"/>
                  <a:pt x="42306" y="201296"/>
                  <a:pt x="56200" y="201296"/>
                </a:cubicBezTo>
                <a:cubicBezTo>
                  <a:pt x="70094" y="201296"/>
                  <a:pt x="83419" y="206816"/>
                  <a:pt x="93244" y="216641"/>
                </a:cubicBezTo>
                <a:cubicBezTo>
                  <a:pt x="103068" y="226465"/>
                  <a:pt x="108587" y="239790"/>
                  <a:pt x="108587" y="253685"/>
                </a:cubicBezTo>
                <a:moveTo>
                  <a:pt x="248589" y="187214"/>
                </a:moveTo>
                <a:cubicBezTo>
                  <a:pt x="248589" y="170985"/>
                  <a:pt x="242142" y="155420"/>
                  <a:pt x="230665" y="143943"/>
                </a:cubicBezTo>
                <a:cubicBezTo>
                  <a:pt x="219190" y="132467"/>
                  <a:pt x="203625" y="126020"/>
                  <a:pt x="187395" y="126020"/>
                </a:cubicBezTo>
                <a:cubicBezTo>
                  <a:pt x="171165" y="126020"/>
                  <a:pt x="155600" y="132467"/>
                  <a:pt x="144124" y="143943"/>
                </a:cubicBezTo>
                <a:cubicBezTo>
                  <a:pt x="137384" y="150684"/>
                  <a:pt x="132378" y="158836"/>
                  <a:pt x="129394" y="167703"/>
                </a:cubicBezTo>
                <a:moveTo>
                  <a:pt x="56204" y="201299"/>
                </a:moveTo>
                <a:cubicBezTo>
                  <a:pt x="39243" y="201299"/>
                  <a:pt x="25494" y="187548"/>
                  <a:pt x="25494" y="170588"/>
                </a:cubicBezTo>
                <a:cubicBezTo>
                  <a:pt x="25494" y="153627"/>
                  <a:pt x="39243" y="139878"/>
                  <a:pt x="56204" y="139878"/>
                </a:cubicBezTo>
                <a:cubicBezTo>
                  <a:pt x="73164" y="139878"/>
                  <a:pt x="86913" y="153627"/>
                  <a:pt x="86913" y="170588"/>
                </a:cubicBezTo>
                <a:cubicBezTo>
                  <a:pt x="86913" y="187548"/>
                  <a:pt x="73164" y="201299"/>
                  <a:pt x="56204" y="201299"/>
                </a:cubicBezTo>
                <a:close/>
                <a:moveTo>
                  <a:pt x="187399" y="126021"/>
                </a:moveTo>
                <a:cubicBezTo>
                  <a:pt x="207210" y="126021"/>
                  <a:pt x="223271" y="109961"/>
                  <a:pt x="223271" y="90149"/>
                </a:cubicBezTo>
                <a:cubicBezTo>
                  <a:pt x="223271" y="70337"/>
                  <a:pt x="207210" y="54277"/>
                  <a:pt x="187399" y="54277"/>
                </a:cubicBezTo>
                <a:cubicBezTo>
                  <a:pt x="167587" y="54277"/>
                  <a:pt x="151527" y="70337"/>
                  <a:pt x="151527" y="90149"/>
                </a:cubicBezTo>
                <a:cubicBezTo>
                  <a:pt x="151527" y="109961"/>
                  <a:pt x="167587" y="126021"/>
                  <a:pt x="187399" y="126021"/>
                </a:cubicBezTo>
                <a:close/>
                <a:moveTo>
                  <a:pt x="3609" y="59549"/>
                </a:moveTo>
                <a:cubicBezTo>
                  <a:pt x="3609" y="30811"/>
                  <a:pt x="31052" y="7515"/>
                  <a:pt x="64904" y="7515"/>
                </a:cubicBezTo>
                <a:cubicBezTo>
                  <a:pt x="98756" y="7515"/>
                  <a:pt x="126199" y="30811"/>
                  <a:pt x="126199" y="59549"/>
                </a:cubicBezTo>
                <a:cubicBezTo>
                  <a:pt x="126199" y="75793"/>
                  <a:pt x="117431" y="90299"/>
                  <a:pt x="103693" y="99841"/>
                </a:cubicBezTo>
                <a:lnTo>
                  <a:pt x="108801" y="130482"/>
                </a:lnTo>
                <a:lnTo>
                  <a:pt x="77999" y="110394"/>
                </a:lnTo>
                <a:cubicBezTo>
                  <a:pt x="73780" y="111174"/>
                  <a:pt x="69398" y="111584"/>
                  <a:pt x="64904" y="111584"/>
                </a:cubicBezTo>
                <a:cubicBezTo>
                  <a:pt x="31052" y="111584"/>
                  <a:pt x="3609" y="88287"/>
                  <a:pt x="3609" y="59549"/>
                </a:cubicBezTo>
                <a:close/>
                <a:moveTo>
                  <a:pt x="35672" y="55289"/>
                </a:moveTo>
                <a:cubicBezTo>
                  <a:pt x="37568" y="55289"/>
                  <a:pt x="39106" y="56827"/>
                  <a:pt x="39106" y="58723"/>
                </a:cubicBezTo>
                <a:cubicBezTo>
                  <a:pt x="39106" y="60619"/>
                  <a:pt x="37568" y="62156"/>
                  <a:pt x="35672" y="62156"/>
                </a:cubicBezTo>
                <a:moveTo>
                  <a:pt x="35673" y="62157"/>
                </a:moveTo>
                <a:cubicBezTo>
                  <a:pt x="33776" y="62157"/>
                  <a:pt x="32239" y="60620"/>
                  <a:pt x="32239" y="58723"/>
                </a:cubicBezTo>
                <a:cubicBezTo>
                  <a:pt x="32239" y="56827"/>
                  <a:pt x="33776" y="55290"/>
                  <a:pt x="35673" y="55290"/>
                </a:cubicBezTo>
                <a:moveTo>
                  <a:pt x="64907" y="55289"/>
                </a:moveTo>
                <a:cubicBezTo>
                  <a:pt x="66803" y="55289"/>
                  <a:pt x="68340" y="56827"/>
                  <a:pt x="68340" y="58723"/>
                </a:cubicBezTo>
                <a:cubicBezTo>
                  <a:pt x="68340" y="60619"/>
                  <a:pt x="66803" y="62156"/>
                  <a:pt x="64907" y="62156"/>
                </a:cubicBezTo>
                <a:moveTo>
                  <a:pt x="64913" y="62157"/>
                </a:moveTo>
                <a:cubicBezTo>
                  <a:pt x="63017" y="62157"/>
                  <a:pt x="61480" y="60620"/>
                  <a:pt x="61480" y="58723"/>
                </a:cubicBezTo>
                <a:cubicBezTo>
                  <a:pt x="61480" y="56827"/>
                  <a:pt x="63017" y="55290"/>
                  <a:pt x="64913" y="55290"/>
                </a:cubicBezTo>
                <a:moveTo>
                  <a:pt x="94142" y="55289"/>
                </a:moveTo>
                <a:cubicBezTo>
                  <a:pt x="96038" y="55289"/>
                  <a:pt x="97575" y="56827"/>
                  <a:pt x="97575" y="58723"/>
                </a:cubicBezTo>
                <a:cubicBezTo>
                  <a:pt x="97575" y="60619"/>
                  <a:pt x="96038" y="62156"/>
                  <a:pt x="94142" y="62156"/>
                </a:cubicBezTo>
                <a:moveTo>
                  <a:pt x="94148" y="62157"/>
                </a:moveTo>
                <a:cubicBezTo>
                  <a:pt x="92252" y="62157"/>
                  <a:pt x="90715" y="60620"/>
                  <a:pt x="90715" y="58723"/>
                </a:cubicBezTo>
                <a:cubicBezTo>
                  <a:pt x="90715" y="56827"/>
                  <a:pt x="92252" y="55290"/>
                  <a:pt x="94148" y="55290"/>
                </a:cubicBezTo>
                <a:moveTo>
                  <a:pt x="3377" y="253318"/>
                </a:moveTo>
                <a:cubicBezTo>
                  <a:pt x="7881" y="240933"/>
                  <a:pt x="6755" y="224045"/>
                  <a:pt x="19139" y="216164"/>
                </a:cubicBezTo>
                <a:cubicBezTo>
                  <a:pt x="31524" y="209409"/>
                  <a:pt x="42782" y="206032"/>
                  <a:pt x="56292" y="201528"/>
                </a:cubicBezTo>
                <a:cubicBezTo>
                  <a:pt x="69803" y="197025"/>
                  <a:pt x="82187" y="209409"/>
                  <a:pt x="93446" y="216164"/>
                </a:cubicBezTo>
                <a:cubicBezTo>
                  <a:pt x="104704" y="224045"/>
                  <a:pt x="112585" y="239807"/>
                  <a:pt x="108082" y="253318"/>
                </a:cubicBezTo>
                <a:moveTo>
                  <a:pt x="248814" y="186892"/>
                </a:moveTo>
                <a:cubicBezTo>
                  <a:pt x="251066" y="171130"/>
                  <a:pt x="242059" y="155368"/>
                  <a:pt x="230800" y="144109"/>
                </a:cubicBezTo>
                <a:cubicBezTo>
                  <a:pt x="219542" y="132851"/>
                  <a:pt x="203780" y="122718"/>
                  <a:pt x="186892" y="126096"/>
                </a:cubicBezTo>
                <a:cubicBezTo>
                  <a:pt x="171130" y="128347"/>
                  <a:pt x="154242" y="131725"/>
                  <a:pt x="144109" y="144109"/>
                </a:cubicBezTo>
                <a:cubicBezTo>
                  <a:pt x="138480" y="150865"/>
                  <a:pt x="130599" y="158746"/>
                  <a:pt x="129473" y="167752"/>
                </a:cubicBezTo>
                <a:moveTo>
                  <a:pt x="56292" y="201528"/>
                </a:moveTo>
                <a:cubicBezTo>
                  <a:pt x="72054" y="206032"/>
                  <a:pt x="93446" y="186892"/>
                  <a:pt x="86691" y="171130"/>
                </a:cubicBezTo>
                <a:cubicBezTo>
                  <a:pt x="81061" y="155368"/>
                  <a:pt x="73180" y="142984"/>
                  <a:pt x="56292" y="139606"/>
                </a:cubicBezTo>
                <a:cubicBezTo>
                  <a:pt x="39405" y="137354"/>
                  <a:pt x="20265" y="154242"/>
                  <a:pt x="25894" y="171130"/>
                </a:cubicBezTo>
                <a:cubicBezTo>
                  <a:pt x="30398" y="186892"/>
                  <a:pt x="39405" y="201528"/>
                  <a:pt x="56292" y="201528"/>
                </a:cubicBezTo>
                <a:moveTo>
                  <a:pt x="186892" y="126096"/>
                </a:moveTo>
                <a:cubicBezTo>
                  <a:pt x="207157" y="127222"/>
                  <a:pt x="225171" y="110334"/>
                  <a:pt x="222919" y="90068"/>
                </a:cubicBezTo>
                <a:cubicBezTo>
                  <a:pt x="220668" y="70929"/>
                  <a:pt x="206032" y="47286"/>
                  <a:pt x="186892" y="54041"/>
                </a:cubicBezTo>
                <a:cubicBezTo>
                  <a:pt x="168878" y="60796"/>
                  <a:pt x="150865" y="70929"/>
                  <a:pt x="151990" y="90068"/>
                </a:cubicBezTo>
                <a:cubicBezTo>
                  <a:pt x="151990" y="110334"/>
                  <a:pt x="167752" y="130599"/>
                  <a:pt x="186892" y="126096"/>
                </a:cubicBezTo>
                <a:moveTo>
                  <a:pt x="3377" y="59670"/>
                </a:moveTo>
                <a:cubicBezTo>
                  <a:pt x="0" y="87816"/>
                  <a:pt x="31524" y="118215"/>
                  <a:pt x="65299" y="111460"/>
                </a:cubicBezTo>
                <a:cubicBezTo>
                  <a:pt x="69803" y="110334"/>
                  <a:pt x="73180" y="111460"/>
                  <a:pt x="77684" y="110334"/>
                </a:cubicBezTo>
                <a:cubicBezTo>
                  <a:pt x="87816" y="117089"/>
                  <a:pt x="96823" y="127222"/>
                  <a:pt x="109208" y="130599"/>
                </a:cubicBezTo>
                <a:cubicBezTo>
                  <a:pt x="105830" y="120466"/>
                  <a:pt x="102453" y="110334"/>
                  <a:pt x="103578" y="100201"/>
                </a:cubicBezTo>
                <a:cubicBezTo>
                  <a:pt x="115963" y="88942"/>
                  <a:pt x="129473" y="75432"/>
                  <a:pt x="126096" y="59670"/>
                </a:cubicBezTo>
                <a:cubicBezTo>
                  <a:pt x="121592" y="31524"/>
                  <a:pt x="97949" y="0"/>
                  <a:pt x="65299" y="7881"/>
                </a:cubicBezTo>
                <a:cubicBezTo>
                  <a:pt x="31524" y="15762"/>
                  <a:pt x="7881" y="31524"/>
                  <a:pt x="3377" y="59670"/>
                </a:cubicBezTo>
                <a:moveTo>
                  <a:pt x="36027" y="55167"/>
                </a:moveTo>
                <a:cubicBezTo>
                  <a:pt x="37153" y="55167"/>
                  <a:pt x="39405" y="56292"/>
                  <a:pt x="39405" y="58544"/>
                </a:cubicBezTo>
                <a:cubicBezTo>
                  <a:pt x="39405" y="60796"/>
                  <a:pt x="37153" y="63048"/>
                  <a:pt x="36027" y="61922"/>
                </a:cubicBezTo>
                <a:moveTo>
                  <a:pt x="36027" y="61922"/>
                </a:moveTo>
                <a:cubicBezTo>
                  <a:pt x="33775" y="61922"/>
                  <a:pt x="32649" y="60796"/>
                  <a:pt x="32649" y="58544"/>
                </a:cubicBezTo>
                <a:cubicBezTo>
                  <a:pt x="32649" y="56292"/>
                  <a:pt x="33775" y="55167"/>
                  <a:pt x="36027" y="55167"/>
                </a:cubicBezTo>
                <a:moveTo>
                  <a:pt x="65299" y="55167"/>
                </a:moveTo>
                <a:cubicBezTo>
                  <a:pt x="66425" y="55167"/>
                  <a:pt x="68677" y="57418"/>
                  <a:pt x="68677" y="58544"/>
                </a:cubicBezTo>
                <a:cubicBezTo>
                  <a:pt x="67551" y="60796"/>
                  <a:pt x="66425" y="61922"/>
                  <a:pt x="65299" y="61922"/>
                </a:cubicBezTo>
                <a:moveTo>
                  <a:pt x="65299" y="61922"/>
                </a:moveTo>
                <a:cubicBezTo>
                  <a:pt x="63048" y="61922"/>
                  <a:pt x="61922" y="60796"/>
                  <a:pt x="61922" y="58544"/>
                </a:cubicBezTo>
                <a:cubicBezTo>
                  <a:pt x="61922" y="56292"/>
                  <a:pt x="63048" y="55167"/>
                  <a:pt x="65299" y="55167"/>
                </a:cubicBezTo>
                <a:moveTo>
                  <a:pt x="94572" y="55167"/>
                </a:moveTo>
                <a:cubicBezTo>
                  <a:pt x="95697" y="56292"/>
                  <a:pt x="96823" y="57418"/>
                  <a:pt x="97949" y="58544"/>
                </a:cubicBezTo>
                <a:cubicBezTo>
                  <a:pt x="97949" y="60796"/>
                  <a:pt x="95697" y="61922"/>
                  <a:pt x="94572" y="61922"/>
                </a:cubicBezTo>
                <a:moveTo>
                  <a:pt x="94572" y="61922"/>
                </a:moveTo>
                <a:cubicBezTo>
                  <a:pt x="92320" y="61922"/>
                  <a:pt x="90068" y="60796"/>
                  <a:pt x="91194" y="58544"/>
                </a:cubicBezTo>
                <a:cubicBezTo>
                  <a:pt x="91194" y="57418"/>
                  <a:pt x="92320" y="55167"/>
                  <a:pt x="94572" y="55167"/>
                </a:cubicBezTo>
              </a:path>
            </a:pathLst>
          </a:custGeom>
          <a:noFill/>
          <a:ln w="16887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58766" y="2958308"/>
            <a:ext cx="267954" cy="270206"/>
          </a:xfrm>
          <a:custGeom>
            <a:avLst/>
            <a:gdLst/>
            <a:ahLst/>
            <a:cxnLst/>
            <a:rect l="0" t="0" r="0" b="0"/>
            <a:pathLst>
              <a:path w="267954" h="270206">
                <a:moveTo>
                  <a:pt x="136791" y="258945"/>
                </a:moveTo>
                <a:cubicBezTo>
                  <a:pt x="66839" y="258945"/>
                  <a:pt x="10132" y="202239"/>
                  <a:pt x="10132" y="132287"/>
                </a:cubicBezTo>
                <a:cubicBezTo>
                  <a:pt x="10132" y="62335"/>
                  <a:pt x="66839" y="5627"/>
                  <a:pt x="136791" y="5627"/>
                </a:cubicBezTo>
                <a:cubicBezTo>
                  <a:pt x="206743" y="5627"/>
                  <a:pt x="263450" y="62335"/>
                  <a:pt x="263450" y="132287"/>
                </a:cubicBezTo>
                <a:cubicBezTo>
                  <a:pt x="263450" y="202239"/>
                  <a:pt x="206743" y="258945"/>
                  <a:pt x="136791" y="258945"/>
                </a:cubicBezTo>
                <a:close/>
                <a:moveTo>
                  <a:pt x="119341" y="182389"/>
                </a:moveTo>
                <a:lnTo>
                  <a:pt x="110333" y="182389"/>
                </a:lnTo>
                <a:cubicBezTo>
                  <a:pt x="101327" y="182389"/>
                  <a:pt x="93446" y="175633"/>
                  <a:pt x="93446" y="167752"/>
                </a:cubicBezTo>
                <a:lnTo>
                  <a:pt x="93446" y="154242"/>
                </a:lnTo>
                <a:cubicBezTo>
                  <a:pt x="93446" y="148613"/>
                  <a:pt x="90068" y="144108"/>
                  <a:pt x="85565" y="141857"/>
                </a:cubicBezTo>
                <a:lnTo>
                  <a:pt x="67551" y="131725"/>
                </a:lnTo>
                <a:lnTo>
                  <a:pt x="85565" y="121592"/>
                </a:lnTo>
                <a:cubicBezTo>
                  <a:pt x="90068" y="118215"/>
                  <a:pt x="93446" y="113711"/>
                  <a:pt x="93446" y="109208"/>
                </a:cubicBezTo>
                <a:lnTo>
                  <a:pt x="93446" y="95697"/>
                </a:lnTo>
                <a:cubicBezTo>
                  <a:pt x="93446" y="87816"/>
                  <a:pt x="101327" y="81061"/>
                  <a:pt x="110333" y="81061"/>
                </a:cubicBezTo>
                <a:lnTo>
                  <a:pt x="119341" y="81061"/>
                </a:lnTo>
                <a:moveTo>
                  <a:pt x="153116" y="182389"/>
                </a:moveTo>
                <a:lnTo>
                  <a:pt x="162123" y="182389"/>
                </a:lnTo>
                <a:cubicBezTo>
                  <a:pt x="171130" y="182389"/>
                  <a:pt x="179011" y="175633"/>
                  <a:pt x="179011" y="167752"/>
                </a:cubicBezTo>
                <a:lnTo>
                  <a:pt x="179011" y="154242"/>
                </a:lnTo>
                <a:cubicBezTo>
                  <a:pt x="179011" y="148613"/>
                  <a:pt x="182389" y="144108"/>
                  <a:pt x="186892" y="141857"/>
                </a:cubicBezTo>
                <a:lnTo>
                  <a:pt x="204906" y="131725"/>
                </a:lnTo>
                <a:lnTo>
                  <a:pt x="186892" y="121592"/>
                </a:lnTo>
                <a:cubicBezTo>
                  <a:pt x="182389" y="118215"/>
                  <a:pt x="179011" y="113711"/>
                  <a:pt x="179011" y="109208"/>
                </a:cubicBezTo>
                <a:lnTo>
                  <a:pt x="179011" y="95697"/>
                </a:lnTo>
                <a:cubicBezTo>
                  <a:pt x="179011" y="87816"/>
                  <a:pt x="171130" y="81061"/>
                  <a:pt x="162123" y="81061"/>
                </a:cubicBezTo>
                <a:lnTo>
                  <a:pt x="153116" y="81061"/>
                </a:lnTo>
                <a:moveTo>
                  <a:pt x="137354" y="258947"/>
                </a:moveTo>
                <a:cubicBezTo>
                  <a:pt x="206032" y="270206"/>
                  <a:pt x="258947" y="202654"/>
                  <a:pt x="263450" y="131725"/>
                </a:cubicBezTo>
                <a:cubicBezTo>
                  <a:pt x="267954" y="63048"/>
                  <a:pt x="207157" y="0"/>
                  <a:pt x="137354" y="5629"/>
                </a:cubicBezTo>
                <a:cubicBezTo>
                  <a:pt x="67551" y="11258"/>
                  <a:pt x="0" y="63048"/>
                  <a:pt x="10132" y="131725"/>
                </a:cubicBezTo>
                <a:cubicBezTo>
                  <a:pt x="20265" y="201528"/>
                  <a:pt x="66425" y="263450"/>
                  <a:pt x="137354" y="258947"/>
                </a:cubicBezTo>
                <a:moveTo>
                  <a:pt x="119341" y="182389"/>
                </a:moveTo>
                <a:cubicBezTo>
                  <a:pt x="115963" y="182389"/>
                  <a:pt x="113711" y="183514"/>
                  <a:pt x="110334" y="182389"/>
                </a:cubicBezTo>
                <a:cubicBezTo>
                  <a:pt x="101327" y="180137"/>
                  <a:pt x="90068" y="174508"/>
                  <a:pt x="93446" y="167752"/>
                </a:cubicBezTo>
                <a:cubicBezTo>
                  <a:pt x="95697" y="163249"/>
                  <a:pt x="94572" y="158746"/>
                  <a:pt x="93446" y="154242"/>
                </a:cubicBezTo>
                <a:cubicBezTo>
                  <a:pt x="92320" y="148613"/>
                  <a:pt x="88942" y="145235"/>
                  <a:pt x="85565" y="141858"/>
                </a:cubicBezTo>
                <a:cubicBezTo>
                  <a:pt x="79935" y="138480"/>
                  <a:pt x="73180" y="135103"/>
                  <a:pt x="67551" y="131725"/>
                </a:cubicBezTo>
                <a:cubicBezTo>
                  <a:pt x="74306" y="130599"/>
                  <a:pt x="79935" y="124970"/>
                  <a:pt x="85565" y="121592"/>
                </a:cubicBezTo>
                <a:cubicBezTo>
                  <a:pt x="88942" y="117089"/>
                  <a:pt x="94572" y="113711"/>
                  <a:pt x="93446" y="109208"/>
                </a:cubicBezTo>
                <a:cubicBezTo>
                  <a:pt x="92320" y="104704"/>
                  <a:pt x="94572" y="100201"/>
                  <a:pt x="93446" y="95697"/>
                </a:cubicBezTo>
                <a:cubicBezTo>
                  <a:pt x="91194" y="87816"/>
                  <a:pt x="101327" y="83313"/>
                  <a:pt x="110334" y="81061"/>
                </a:cubicBezTo>
                <a:cubicBezTo>
                  <a:pt x="113711" y="79935"/>
                  <a:pt x="115963" y="82187"/>
                  <a:pt x="119341" y="81061"/>
                </a:cubicBezTo>
                <a:moveTo>
                  <a:pt x="153116" y="81061"/>
                </a:moveTo>
                <a:cubicBezTo>
                  <a:pt x="156494" y="81061"/>
                  <a:pt x="158746" y="82187"/>
                  <a:pt x="162123" y="81061"/>
                </a:cubicBezTo>
                <a:cubicBezTo>
                  <a:pt x="171130" y="78810"/>
                  <a:pt x="181263" y="87816"/>
                  <a:pt x="179011" y="95697"/>
                </a:cubicBezTo>
                <a:cubicBezTo>
                  <a:pt x="177885" y="100201"/>
                  <a:pt x="177885" y="104704"/>
                  <a:pt x="179011" y="109208"/>
                </a:cubicBezTo>
                <a:cubicBezTo>
                  <a:pt x="180137" y="113711"/>
                  <a:pt x="181263" y="119341"/>
                  <a:pt x="186892" y="121592"/>
                </a:cubicBezTo>
                <a:cubicBezTo>
                  <a:pt x="193647" y="123844"/>
                  <a:pt x="198151" y="130599"/>
                  <a:pt x="204906" y="131725"/>
                </a:cubicBezTo>
                <a:cubicBezTo>
                  <a:pt x="199276" y="136228"/>
                  <a:pt x="192521" y="138480"/>
                  <a:pt x="186892" y="141858"/>
                </a:cubicBezTo>
                <a:cubicBezTo>
                  <a:pt x="182389" y="142984"/>
                  <a:pt x="177885" y="148613"/>
                  <a:pt x="179011" y="154242"/>
                </a:cubicBezTo>
                <a:cubicBezTo>
                  <a:pt x="180137" y="158746"/>
                  <a:pt x="179011" y="163249"/>
                  <a:pt x="179011" y="167752"/>
                </a:cubicBezTo>
                <a:cubicBezTo>
                  <a:pt x="180137" y="175633"/>
                  <a:pt x="171130" y="181263"/>
                  <a:pt x="162123" y="182389"/>
                </a:cubicBezTo>
                <a:cubicBezTo>
                  <a:pt x="158746" y="182389"/>
                  <a:pt x="156494" y="182389"/>
                  <a:pt x="153116" y="182389"/>
                </a:cubicBezTo>
              </a:path>
            </a:pathLst>
          </a:custGeom>
          <a:noFill/>
          <a:ln w="16887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42681" y="2959434"/>
            <a:ext cx="265702" cy="261199"/>
          </a:xfrm>
          <a:custGeom>
            <a:avLst/>
            <a:gdLst/>
            <a:ahLst/>
            <a:cxnLst/>
            <a:rect l="0" t="0" r="0" b="0"/>
            <a:pathLst>
              <a:path w="265702" h="261199">
                <a:moveTo>
                  <a:pt x="126096" y="200965"/>
                </a:moveTo>
                <a:cubicBezTo>
                  <a:pt x="126096" y="186975"/>
                  <a:pt x="137437" y="175633"/>
                  <a:pt x="151427" y="175633"/>
                </a:cubicBezTo>
                <a:cubicBezTo>
                  <a:pt x="165418" y="175633"/>
                  <a:pt x="176759" y="186975"/>
                  <a:pt x="176759" y="200965"/>
                </a:cubicBezTo>
                <a:cubicBezTo>
                  <a:pt x="176759" y="214956"/>
                  <a:pt x="165418" y="226297"/>
                  <a:pt x="151427" y="226297"/>
                </a:cubicBezTo>
                <a:cubicBezTo>
                  <a:pt x="137437" y="226297"/>
                  <a:pt x="126096" y="214956"/>
                  <a:pt x="126096" y="200965"/>
                </a:cubicBezTo>
                <a:close/>
                <a:moveTo>
                  <a:pt x="210535" y="234741"/>
                </a:moveTo>
                <a:cubicBezTo>
                  <a:pt x="210535" y="220751"/>
                  <a:pt x="221876" y="209409"/>
                  <a:pt x="235867" y="209409"/>
                </a:cubicBezTo>
                <a:cubicBezTo>
                  <a:pt x="249857" y="209409"/>
                  <a:pt x="261199" y="220751"/>
                  <a:pt x="261199" y="234741"/>
                </a:cubicBezTo>
                <a:cubicBezTo>
                  <a:pt x="261199" y="248731"/>
                  <a:pt x="249857" y="260073"/>
                  <a:pt x="235867" y="260073"/>
                </a:cubicBezTo>
                <a:cubicBezTo>
                  <a:pt x="221876" y="260073"/>
                  <a:pt x="210535" y="248731"/>
                  <a:pt x="210535" y="234741"/>
                </a:cubicBezTo>
                <a:close/>
                <a:moveTo>
                  <a:pt x="210535" y="150302"/>
                </a:moveTo>
                <a:cubicBezTo>
                  <a:pt x="210535" y="136311"/>
                  <a:pt x="221876" y="124970"/>
                  <a:pt x="235867" y="124970"/>
                </a:cubicBezTo>
                <a:cubicBezTo>
                  <a:pt x="249857" y="124970"/>
                  <a:pt x="261199" y="136311"/>
                  <a:pt x="261199" y="150302"/>
                </a:cubicBezTo>
                <a:cubicBezTo>
                  <a:pt x="261199" y="164292"/>
                  <a:pt x="249857" y="175633"/>
                  <a:pt x="235867" y="175633"/>
                </a:cubicBezTo>
                <a:cubicBezTo>
                  <a:pt x="221876" y="175633"/>
                  <a:pt x="210535" y="164292"/>
                  <a:pt x="210535" y="150302"/>
                </a:cubicBezTo>
                <a:close/>
                <a:moveTo>
                  <a:pt x="173100" y="187962"/>
                </a:moveTo>
                <a:lnTo>
                  <a:pt x="214194" y="163305"/>
                </a:lnTo>
                <a:moveTo>
                  <a:pt x="174935" y="210366"/>
                </a:moveTo>
                <a:lnTo>
                  <a:pt x="212359" y="225340"/>
                </a:lnTo>
                <a:moveTo>
                  <a:pt x="154242" y="91194"/>
                </a:moveTo>
                <a:lnTo>
                  <a:pt x="47286" y="91194"/>
                </a:lnTo>
                <a:moveTo>
                  <a:pt x="114837" y="124970"/>
                </a:moveTo>
                <a:lnTo>
                  <a:pt x="47286" y="124970"/>
                </a:lnTo>
                <a:moveTo>
                  <a:pt x="126096" y="57418"/>
                </a:moveTo>
                <a:lnTo>
                  <a:pt x="47286" y="57418"/>
                </a:lnTo>
                <a:moveTo>
                  <a:pt x="92320" y="158746"/>
                </a:moveTo>
                <a:lnTo>
                  <a:pt x="47286" y="158746"/>
                </a:lnTo>
                <a:moveTo>
                  <a:pt x="92320" y="192521"/>
                </a:moveTo>
                <a:lnTo>
                  <a:pt x="47286" y="192521"/>
                </a:lnTo>
                <a:moveTo>
                  <a:pt x="216164" y="91194"/>
                </a:moveTo>
                <a:lnTo>
                  <a:pt x="216164" y="54120"/>
                </a:lnTo>
                <a:cubicBezTo>
                  <a:pt x="216164" y="51134"/>
                  <a:pt x="214977" y="48271"/>
                  <a:pt x="212866" y="46160"/>
                </a:cubicBezTo>
                <a:lnTo>
                  <a:pt x="171130" y="4424"/>
                </a:lnTo>
                <a:cubicBezTo>
                  <a:pt x="169019" y="2313"/>
                  <a:pt x="166156" y="1126"/>
                  <a:pt x="163170" y="1125"/>
                </a:cubicBezTo>
                <a:lnTo>
                  <a:pt x="13510" y="1125"/>
                </a:lnTo>
                <a:cubicBezTo>
                  <a:pt x="7292" y="1125"/>
                  <a:pt x="2251" y="6166"/>
                  <a:pt x="2251" y="12384"/>
                </a:cubicBezTo>
                <a:lnTo>
                  <a:pt x="2251" y="248814"/>
                </a:lnTo>
                <a:cubicBezTo>
                  <a:pt x="2251" y="255032"/>
                  <a:pt x="7292" y="260073"/>
                  <a:pt x="13510" y="260073"/>
                </a:cubicBezTo>
                <a:lnTo>
                  <a:pt x="126096" y="260073"/>
                </a:lnTo>
                <a:moveTo>
                  <a:pt x="126096" y="201528"/>
                </a:moveTo>
                <a:cubicBezTo>
                  <a:pt x="121592" y="213913"/>
                  <a:pt x="137354" y="228549"/>
                  <a:pt x="151990" y="226297"/>
                </a:cubicBezTo>
                <a:cubicBezTo>
                  <a:pt x="165501" y="224045"/>
                  <a:pt x="177885" y="215038"/>
                  <a:pt x="176759" y="201528"/>
                </a:cubicBezTo>
                <a:cubicBezTo>
                  <a:pt x="175633" y="186892"/>
                  <a:pt x="164375" y="179011"/>
                  <a:pt x="151990" y="175633"/>
                </a:cubicBezTo>
                <a:cubicBezTo>
                  <a:pt x="138480" y="172256"/>
                  <a:pt x="126096" y="186892"/>
                  <a:pt x="126096" y="201528"/>
                </a:cubicBezTo>
                <a:moveTo>
                  <a:pt x="210535" y="235304"/>
                </a:moveTo>
                <a:cubicBezTo>
                  <a:pt x="215039" y="247688"/>
                  <a:pt x="221794" y="261199"/>
                  <a:pt x="236430" y="260073"/>
                </a:cubicBezTo>
                <a:cubicBezTo>
                  <a:pt x="249940" y="258947"/>
                  <a:pt x="264576" y="248814"/>
                  <a:pt x="261199" y="235304"/>
                </a:cubicBezTo>
                <a:cubicBezTo>
                  <a:pt x="257821" y="220668"/>
                  <a:pt x="249940" y="212787"/>
                  <a:pt x="236430" y="209409"/>
                </a:cubicBezTo>
                <a:cubicBezTo>
                  <a:pt x="221794" y="206032"/>
                  <a:pt x="212787" y="220668"/>
                  <a:pt x="210535" y="235304"/>
                </a:cubicBezTo>
                <a:moveTo>
                  <a:pt x="210535" y="150865"/>
                </a:moveTo>
                <a:cubicBezTo>
                  <a:pt x="210535" y="164375"/>
                  <a:pt x="221794" y="177885"/>
                  <a:pt x="236430" y="175633"/>
                </a:cubicBezTo>
                <a:cubicBezTo>
                  <a:pt x="249940" y="173382"/>
                  <a:pt x="256695" y="163249"/>
                  <a:pt x="261199" y="150865"/>
                </a:cubicBezTo>
                <a:cubicBezTo>
                  <a:pt x="265702" y="137354"/>
                  <a:pt x="249940" y="122718"/>
                  <a:pt x="236430" y="124970"/>
                </a:cubicBezTo>
                <a:cubicBezTo>
                  <a:pt x="221794" y="127222"/>
                  <a:pt x="212787" y="136228"/>
                  <a:pt x="210535" y="150865"/>
                </a:cubicBezTo>
                <a:moveTo>
                  <a:pt x="173382" y="188018"/>
                </a:moveTo>
                <a:cubicBezTo>
                  <a:pt x="186892" y="179011"/>
                  <a:pt x="199276" y="170004"/>
                  <a:pt x="213913" y="163249"/>
                </a:cubicBezTo>
                <a:moveTo>
                  <a:pt x="174508" y="210535"/>
                </a:moveTo>
                <a:cubicBezTo>
                  <a:pt x="186892" y="217290"/>
                  <a:pt x="201528" y="217290"/>
                  <a:pt x="212787" y="225171"/>
                </a:cubicBezTo>
                <a:moveTo>
                  <a:pt x="47286" y="91194"/>
                </a:moveTo>
                <a:cubicBezTo>
                  <a:pt x="82187" y="84439"/>
                  <a:pt x="119341" y="85565"/>
                  <a:pt x="154242" y="91194"/>
                </a:cubicBezTo>
                <a:moveTo>
                  <a:pt x="47286" y="124970"/>
                </a:moveTo>
                <a:cubicBezTo>
                  <a:pt x="68677" y="131725"/>
                  <a:pt x="93446" y="119341"/>
                  <a:pt x="114837" y="124970"/>
                </a:cubicBezTo>
                <a:moveTo>
                  <a:pt x="47286" y="57418"/>
                </a:moveTo>
                <a:cubicBezTo>
                  <a:pt x="73180" y="63048"/>
                  <a:pt x="100201" y="64173"/>
                  <a:pt x="126096" y="57418"/>
                </a:cubicBezTo>
                <a:moveTo>
                  <a:pt x="47286" y="158746"/>
                </a:moveTo>
                <a:cubicBezTo>
                  <a:pt x="60796" y="153116"/>
                  <a:pt x="78810" y="164375"/>
                  <a:pt x="92320" y="158746"/>
                </a:cubicBezTo>
                <a:moveTo>
                  <a:pt x="47286" y="192521"/>
                </a:moveTo>
                <a:cubicBezTo>
                  <a:pt x="61922" y="193647"/>
                  <a:pt x="77684" y="193647"/>
                  <a:pt x="92320" y="192521"/>
                </a:cubicBezTo>
                <a:moveTo>
                  <a:pt x="126096" y="260073"/>
                </a:moveTo>
                <a:cubicBezTo>
                  <a:pt x="88942" y="254444"/>
                  <a:pt x="50663" y="261199"/>
                  <a:pt x="13510" y="260073"/>
                </a:cubicBezTo>
                <a:cubicBezTo>
                  <a:pt x="6755" y="260073"/>
                  <a:pt x="0" y="254444"/>
                  <a:pt x="2251" y="248814"/>
                </a:cubicBezTo>
                <a:cubicBezTo>
                  <a:pt x="28146" y="174508"/>
                  <a:pt x="11258" y="91194"/>
                  <a:pt x="2251" y="12384"/>
                </a:cubicBezTo>
                <a:cubicBezTo>
                  <a:pt x="1125" y="6755"/>
                  <a:pt x="6755" y="1125"/>
                  <a:pt x="13510" y="1125"/>
                </a:cubicBezTo>
                <a:cubicBezTo>
                  <a:pt x="63048" y="3377"/>
                  <a:pt x="115963" y="16887"/>
                  <a:pt x="163249" y="1125"/>
                </a:cubicBezTo>
                <a:cubicBezTo>
                  <a:pt x="165501" y="0"/>
                  <a:pt x="168878" y="2251"/>
                  <a:pt x="171130" y="4503"/>
                </a:cubicBezTo>
                <a:cubicBezTo>
                  <a:pt x="185766" y="18013"/>
                  <a:pt x="198151" y="33775"/>
                  <a:pt x="212787" y="46160"/>
                </a:cubicBezTo>
                <a:cubicBezTo>
                  <a:pt x="215039" y="48411"/>
                  <a:pt x="217290" y="50663"/>
                  <a:pt x="216164" y="54041"/>
                </a:cubicBezTo>
                <a:cubicBezTo>
                  <a:pt x="212787" y="66425"/>
                  <a:pt x="213913" y="78810"/>
                  <a:pt x="216164" y="91194"/>
                </a:cubicBezTo>
              </a:path>
            </a:pathLst>
          </a:custGeom>
          <a:noFill/>
          <a:ln w="16887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893" y="3363642"/>
            <a:ext cx="817168" cy="162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DFE7EE"/>
                </a:solidFill>
                <a:latin typeface="Shantell Sans"/>
              </a:rPr>
              <a:t>Interaction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7844" y="3292693"/>
            <a:ext cx="595017" cy="162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DFE7EE"/>
                </a:solidFill>
                <a:latin typeface="Shantell Sans"/>
              </a:rPr>
              <a:t>Routage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2637" y="3292693"/>
            <a:ext cx="684704" cy="162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DFE7EE"/>
                </a:solidFill>
                <a:latin typeface="Shantell Sans"/>
              </a:rPr>
              <a:t>Exécution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9227" y="3292693"/>
            <a:ext cx="590349" cy="162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DFE7EE"/>
                </a:solidFill>
                <a:latin typeface="Shantell Sans"/>
              </a:rPr>
              <a:t>Réponse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95740" y="3593339"/>
            <a:ext cx="1121473" cy="425624"/>
            <a:chOff x="592857" y="3028420"/>
            <a:chExt cx="1121473" cy="425624"/>
          </a:xfrm>
        </p:grpSpPr>
        <p:sp>
          <p:nvSpPr>
            <p:cNvPr id="24" name="TextBox 23"/>
            <p:cNvSpPr txBox="1"/>
            <p:nvPr/>
          </p:nvSpPr>
          <p:spPr>
            <a:xfrm>
              <a:off x="592857" y="3028420"/>
              <a:ext cx="1121473" cy="141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L'IA gère la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2857" y="3170343"/>
              <a:ext cx="1121473" cy="1418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conversation client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92857" y="3312170"/>
              <a:ext cx="1121473" cy="141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en temps réel.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820436" y="3593339"/>
            <a:ext cx="1189834" cy="425624"/>
            <a:chOff x="2817553" y="3028420"/>
            <a:chExt cx="1189834" cy="425624"/>
          </a:xfrm>
        </p:grpSpPr>
        <p:sp>
          <p:nvSpPr>
            <p:cNvPr id="28" name="TextBox 27"/>
            <p:cNvSpPr txBox="1"/>
            <p:nvPr/>
          </p:nvSpPr>
          <p:spPr>
            <a:xfrm>
              <a:off x="2817553" y="3028420"/>
              <a:ext cx="1189834" cy="141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La base clé identifie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17553" y="3170343"/>
              <a:ext cx="1189834" cy="1418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le Client et le Clone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17553" y="3312170"/>
              <a:ext cx="1189834" cy="141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API responsable.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083013" y="3522398"/>
            <a:ext cx="1223962" cy="567508"/>
            <a:chOff x="5080130" y="2957479"/>
            <a:chExt cx="1223962" cy="567508"/>
          </a:xfrm>
        </p:grpSpPr>
        <p:sp>
          <p:nvSpPr>
            <p:cNvPr id="32" name="TextBox 31"/>
            <p:cNvSpPr txBox="1"/>
            <p:nvPr/>
          </p:nvSpPr>
          <p:spPr>
            <a:xfrm>
              <a:off x="5080130" y="2957479"/>
              <a:ext cx="1223962" cy="141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L'API niveau 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80130" y="3099401"/>
              <a:ext cx="1223962" cy="1418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récupère les données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80130" y="3241228"/>
              <a:ext cx="1223962" cy="141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via des commandes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80130" y="3383151"/>
              <a:ext cx="1223962" cy="1418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précises.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376313" y="3522398"/>
            <a:ext cx="1196178" cy="567508"/>
            <a:chOff x="7373430" y="2957479"/>
            <a:chExt cx="1196178" cy="567508"/>
          </a:xfrm>
        </p:grpSpPr>
        <p:sp>
          <p:nvSpPr>
            <p:cNvPr id="37" name="TextBox 36"/>
            <p:cNvSpPr txBox="1"/>
            <p:nvPr/>
          </p:nvSpPr>
          <p:spPr>
            <a:xfrm>
              <a:off x="7373430" y="2957479"/>
              <a:ext cx="1196178" cy="141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L'IA utilise les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373430" y="3099401"/>
              <a:ext cx="1196178" cy="1418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données structurées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373430" y="3241228"/>
              <a:ext cx="1196178" cy="141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pour finaliser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373430" y="3383151"/>
              <a:ext cx="1196178" cy="1418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l'échange.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5E9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45" y="233362"/>
            <a:ext cx="4467225" cy="2905125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5099995" y="1785937"/>
            <a:ext cx="3287220" cy="800099"/>
            <a:chOff x="4857750" y="1552575"/>
            <a:chExt cx="3287220" cy="800099"/>
          </a:xfrm>
        </p:grpSpPr>
        <p:sp>
          <p:nvSpPr>
            <p:cNvPr id="3" name="TextBox 2"/>
            <p:cNvSpPr txBox="1"/>
            <p:nvPr/>
          </p:nvSpPr>
          <p:spPr>
            <a:xfrm>
              <a:off x="4857750" y="1552575"/>
              <a:ext cx="328722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DFE7EE"/>
                  </a:solidFill>
                  <a:latin typeface="Shantell Sans"/>
                </a:rPr>
                <a:t>Le système des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857750" y="1952625"/>
              <a:ext cx="3287220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DFE7EE"/>
                  </a:solidFill>
                  <a:latin typeface="Shantell Sans"/>
                </a:rPr>
                <a:t>API niveau 1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99995" y="2681287"/>
            <a:ext cx="3209429" cy="457200"/>
            <a:chOff x="4857750" y="2447925"/>
            <a:chExt cx="3209429" cy="457200"/>
          </a:xfrm>
        </p:grpSpPr>
        <p:sp>
          <p:nvSpPr>
            <p:cNvPr id="6" name="TextBox 5"/>
            <p:cNvSpPr txBox="1"/>
            <p:nvPr/>
          </p:nvSpPr>
          <p:spPr>
            <a:xfrm>
              <a:off x="4857750" y="2447925"/>
              <a:ext cx="32094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DFE7EE"/>
                  </a:solidFill>
                  <a:latin typeface="Shantell Sans"/>
                </a:rPr>
                <a:t>Une couche d'exécution robuste et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57750" y="2676525"/>
              <a:ext cx="32094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DFE7EE"/>
                  </a:solidFill>
                  <a:latin typeface="Shantell Sans"/>
                </a:rPr>
                <a:t>redondante.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32769" y="3605212"/>
            <a:ext cx="1552670" cy="457200"/>
            <a:chOff x="390524" y="3371850"/>
            <a:chExt cx="1552670" cy="457200"/>
          </a:xfrm>
        </p:grpSpPr>
        <p:sp>
          <p:nvSpPr>
            <p:cNvPr id="9" name="TextBox 8"/>
            <p:cNvSpPr txBox="1"/>
            <p:nvPr/>
          </p:nvSpPr>
          <p:spPr>
            <a:xfrm>
              <a:off x="390524" y="3371850"/>
              <a:ext cx="1552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DFE7EE"/>
                  </a:solidFill>
                  <a:latin typeface="Shantell Sans"/>
                </a:rPr>
                <a:t>Exécution sans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4" y="3600450"/>
              <a:ext cx="1552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DFE7EE"/>
                  </a:solidFill>
                  <a:latin typeface="Shantell Sans"/>
                </a:rPr>
                <a:t>interprétation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490270" y="3605212"/>
            <a:ext cx="2385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DFE7EE"/>
                </a:solidFill>
                <a:latin typeface="Shantell Sans"/>
              </a:rPr>
              <a:t>Distribution intelligente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770" y="3605212"/>
            <a:ext cx="1866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DFE7EE"/>
                </a:solidFill>
                <a:latin typeface="Shantell Sans"/>
              </a:rPr>
              <a:t>Haute disponibilité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490270" y="3919537"/>
            <a:ext cx="2382145" cy="762000"/>
            <a:chOff x="3248025" y="3686175"/>
            <a:chExt cx="2382145" cy="762000"/>
          </a:xfrm>
        </p:grpSpPr>
        <p:sp>
          <p:nvSpPr>
            <p:cNvPr id="14" name="TextBox 13"/>
            <p:cNvSpPr txBox="1"/>
            <p:nvPr/>
          </p:nvSpPr>
          <p:spPr>
            <a:xfrm>
              <a:off x="3248025" y="3686175"/>
              <a:ext cx="23821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La charge est répartie sur des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48025" y="3876675"/>
              <a:ext cx="23821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premiers à capacité testée pour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48025" y="4067175"/>
              <a:ext cx="23821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prévenir toute saturation du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48025" y="4257675"/>
              <a:ext cx="23821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système.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347770" y="3919537"/>
            <a:ext cx="2553985" cy="571500"/>
            <a:chOff x="6105525" y="3686175"/>
            <a:chExt cx="2553985" cy="571500"/>
          </a:xfrm>
        </p:grpSpPr>
        <p:sp>
          <p:nvSpPr>
            <p:cNvPr id="19" name="TextBox 18"/>
            <p:cNvSpPr txBox="1"/>
            <p:nvPr/>
          </p:nvSpPr>
          <p:spPr>
            <a:xfrm>
              <a:off x="6105525" y="3686175"/>
              <a:ext cx="255398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Chaque premier dispose d'un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105525" y="3876675"/>
              <a:ext cx="255398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backup prêt à prendre le relais en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05525" y="4067175"/>
              <a:ext cx="255398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cas d'indisponibilité.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32770" y="4148137"/>
            <a:ext cx="2647950" cy="762000"/>
            <a:chOff x="390525" y="3914775"/>
            <a:chExt cx="2647950" cy="762000"/>
          </a:xfrm>
        </p:grpSpPr>
        <p:sp>
          <p:nvSpPr>
            <p:cNvPr id="23" name="TextBox 22"/>
            <p:cNvSpPr txBox="1"/>
            <p:nvPr/>
          </p:nvSpPr>
          <p:spPr>
            <a:xfrm>
              <a:off x="390525" y="3914775"/>
              <a:ext cx="26479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Les API au niveau 1 reçoivent des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0525" y="4105275"/>
              <a:ext cx="26479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commandes fixes, garantissant une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0525" y="4295775"/>
              <a:ext cx="26479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exécution prévisible sans erreurs de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0525" y="4486275"/>
              <a:ext cx="26479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logique.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5E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27704" y="2191773"/>
            <a:ext cx="1301262" cy="1849755"/>
          </a:xfrm>
          <a:custGeom>
            <a:avLst/>
            <a:gdLst/>
            <a:ahLst/>
            <a:cxnLst/>
            <a:rect l="0" t="0" r="0" b="0"/>
            <a:pathLst>
              <a:path w="1301262" h="1849755">
                <a:moveTo>
                  <a:pt x="10253" y="346310"/>
                </a:moveTo>
                <a:lnTo>
                  <a:pt x="702407" y="346310"/>
                </a:lnTo>
                <a:lnTo>
                  <a:pt x="702407" y="310"/>
                </a:lnTo>
                <a:lnTo>
                  <a:pt x="1301262" y="924823"/>
                </a:lnTo>
                <a:lnTo>
                  <a:pt x="702407" y="1849337"/>
                </a:lnTo>
                <a:lnTo>
                  <a:pt x="702407" y="1503337"/>
                </a:lnTo>
                <a:lnTo>
                  <a:pt x="10253" y="1503337"/>
                </a:lnTo>
                <a:lnTo>
                  <a:pt x="10253" y="346310"/>
                </a:lnTo>
                <a:close/>
                <a:moveTo>
                  <a:pt x="10477" y="346710"/>
                </a:moveTo>
                <a:cubicBezTo>
                  <a:pt x="119062" y="349567"/>
                  <a:pt x="226695" y="348615"/>
                  <a:pt x="335280" y="346710"/>
                </a:cubicBezTo>
                <a:cubicBezTo>
                  <a:pt x="458152" y="343852"/>
                  <a:pt x="580072" y="355282"/>
                  <a:pt x="701992" y="346710"/>
                </a:cubicBezTo>
                <a:cubicBezTo>
                  <a:pt x="717232" y="231457"/>
                  <a:pt x="695325" y="115252"/>
                  <a:pt x="701992" y="0"/>
                </a:cubicBezTo>
                <a:cubicBezTo>
                  <a:pt x="799147" y="142875"/>
                  <a:pt x="885825" y="291465"/>
                  <a:pt x="982980" y="433387"/>
                </a:cubicBezTo>
                <a:cubicBezTo>
                  <a:pt x="1093470" y="594360"/>
                  <a:pt x="1205865" y="754379"/>
                  <a:pt x="1301115" y="924877"/>
                </a:cubicBezTo>
                <a:cubicBezTo>
                  <a:pt x="1234440" y="1037272"/>
                  <a:pt x="1172527" y="1154430"/>
                  <a:pt x="1087755" y="1253489"/>
                </a:cubicBezTo>
                <a:cubicBezTo>
                  <a:pt x="1008697" y="1346835"/>
                  <a:pt x="962025" y="1463992"/>
                  <a:pt x="888682" y="1562100"/>
                </a:cubicBezTo>
                <a:cubicBezTo>
                  <a:pt x="820102" y="1653539"/>
                  <a:pt x="775335" y="1762125"/>
                  <a:pt x="701992" y="1849755"/>
                </a:cubicBezTo>
                <a:cubicBezTo>
                  <a:pt x="690562" y="1734502"/>
                  <a:pt x="691515" y="1618297"/>
                  <a:pt x="701992" y="1503045"/>
                </a:cubicBezTo>
                <a:cubicBezTo>
                  <a:pt x="471487" y="1512570"/>
                  <a:pt x="240030" y="1518285"/>
                  <a:pt x="10477" y="1503045"/>
                </a:cubicBezTo>
                <a:cubicBezTo>
                  <a:pt x="7620" y="1378267"/>
                  <a:pt x="10477" y="1253489"/>
                  <a:pt x="10477" y="1128712"/>
                </a:cubicBezTo>
                <a:cubicBezTo>
                  <a:pt x="10477" y="988695"/>
                  <a:pt x="1905" y="848677"/>
                  <a:pt x="10477" y="708660"/>
                </a:cubicBezTo>
                <a:cubicBezTo>
                  <a:pt x="17145" y="587692"/>
                  <a:pt x="0" y="466725"/>
                  <a:pt x="10477" y="346710"/>
                </a:cubicBezTo>
              </a:path>
            </a:pathLst>
          </a:custGeom>
          <a:noFill/>
          <a:ln w="10758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11448" y="2168466"/>
            <a:ext cx="1312545" cy="1900685"/>
          </a:xfrm>
          <a:custGeom>
            <a:avLst/>
            <a:gdLst/>
            <a:ahLst/>
            <a:cxnLst/>
            <a:rect l="0" t="0" r="0" b="0"/>
            <a:pathLst>
              <a:path w="1312545" h="1900685">
                <a:moveTo>
                  <a:pt x="1291009" y="1544992"/>
                </a:moveTo>
                <a:lnTo>
                  <a:pt x="598855" y="1544992"/>
                </a:lnTo>
                <a:lnTo>
                  <a:pt x="598855" y="1900652"/>
                </a:lnTo>
                <a:lnTo>
                  <a:pt x="0" y="950326"/>
                </a:lnTo>
                <a:lnTo>
                  <a:pt x="598855" y="0"/>
                </a:lnTo>
                <a:lnTo>
                  <a:pt x="598855" y="355660"/>
                </a:lnTo>
                <a:lnTo>
                  <a:pt x="1291009" y="355660"/>
                </a:lnTo>
                <a:lnTo>
                  <a:pt x="1291009" y="1544992"/>
                </a:lnTo>
                <a:close/>
                <a:moveTo>
                  <a:pt x="1290637" y="1545402"/>
                </a:moveTo>
                <a:cubicBezTo>
                  <a:pt x="1060132" y="1541592"/>
                  <a:pt x="829627" y="1531115"/>
                  <a:pt x="599122" y="1545402"/>
                </a:cubicBezTo>
                <a:cubicBezTo>
                  <a:pt x="596264" y="1663512"/>
                  <a:pt x="604837" y="1782575"/>
                  <a:pt x="599122" y="1900685"/>
                </a:cubicBezTo>
                <a:cubicBezTo>
                  <a:pt x="526732" y="1795910"/>
                  <a:pt x="473392" y="1677800"/>
                  <a:pt x="395287" y="1577787"/>
                </a:cubicBezTo>
                <a:cubicBezTo>
                  <a:pt x="324802" y="1487300"/>
                  <a:pt x="270510" y="1386335"/>
                  <a:pt x="212407" y="1287275"/>
                </a:cubicBezTo>
                <a:cubicBezTo>
                  <a:pt x="144779" y="1172975"/>
                  <a:pt x="70484" y="1062485"/>
                  <a:pt x="0" y="950090"/>
                </a:cubicBezTo>
                <a:cubicBezTo>
                  <a:pt x="206692" y="638622"/>
                  <a:pt x="410527" y="323345"/>
                  <a:pt x="599122" y="447"/>
                </a:cubicBezTo>
                <a:cubicBezTo>
                  <a:pt x="599122" y="118557"/>
                  <a:pt x="592454" y="237620"/>
                  <a:pt x="599122" y="355730"/>
                </a:cubicBezTo>
                <a:cubicBezTo>
                  <a:pt x="829627" y="355730"/>
                  <a:pt x="1060132" y="356682"/>
                  <a:pt x="1290637" y="355730"/>
                </a:cubicBezTo>
                <a:cubicBezTo>
                  <a:pt x="1302067" y="540515"/>
                  <a:pt x="1272539" y="727205"/>
                  <a:pt x="1290637" y="911037"/>
                </a:cubicBezTo>
                <a:cubicBezTo>
                  <a:pt x="1312545" y="1121540"/>
                  <a:pt x="1286827" y="1333947"/>
                  <a:pt x="1290637" y="1545402"/>
                </a:cubicBezTo>
              </a:path>
            </a:pathLst>
          </a:custGeom>
          <a:noFill/>
          <a:ln w="10758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90103" y="1876328"/>
            <a:ext cx="344269" cy="1992630"/>
          </a:xfrm>
          <a:custGeom>
            <a:avLst/>
            <a:gdLst/>
            <a:ahLst/>
            <a:cxnLst/>
            <a:rect l="0" t="0" r="0" b="0"/>
            <a:pathLst>
              <a:path w="344269" h="1992630">
                <a:moveTo>
                  <a:pt x="344269" y="1238877"/>
                </a:moveTo>
                <a:lnTo>
                  <a:pt x="172134" y="1238877"/>
                </a:lnTo>
                <a:moveTo>
                  <a:pt x="0" y="12382"/>
                </a:moveTo>
                <a:lnTo>
                  <a:pt x="57834" y="12382"/>
                </a:lnTo>
                <a:cubicBezTo>
                  <a:pt x="120960" y="12382"/>
                  <a:pt x="172134" y="63556"/>
                  <a:pt x="172134" y="126682"/>
                </a:cubicBezTo>
                <a:lnTo>
                  <a:pt x="172134" y="1877678"/>
                </a:lnTo>
                <a:cubicBezTo>
                  <a:pt x="172134" y="1940804"/>
                  <a:pt x="120960" y="1991978"/>
                  <a:pt x="57834" y="1991978"/>
                </a:cubicBezTo>
                <a:lnTo>
                  <a:pt x="0" y="1991978"/>
                </a:lnTo>
                <a:moveTo>
                  <a:pt x="0" y="1002179"/>
                </a:moveTo>
                <a:lnTo>
                  <a:pt x="172134" y="1002179"/>
                </a:lnTo>
                <a:moveTo>
                  <a:pt x="343852" y="1239202"/>
                </a:moveTo>
                <a:cubicBezTo>
                  <a:pt x="286702" y="1237297"/>
                  <a:pt x="228600" y="1251585"/>
                  <a:pt x="172402" y="1239202"/>
                </a:cubicBezTo>
                <a:moveTo>
                  <a:pt x="0" y="1991677"/>
                </a:moveTo>
                <a:cubicBezTo>
                  <a:pt x="19050" y="1992630"/>
                  <a:pt x="39052" y="1992630"/>
                  <a:pt x="58102" y="1991677"/>
                </a:cubicBezTo>
                <a:cubicBezTo>
                  <a:pt x="120967" y="1990725"/>
                  <a:pt x="177165" y="1940242"/>
                  <a:pt x="172402" y="1877377"/>
                </a:cubicBezTo>
                <a:cubicBezTo>
                  <a:pt x="158115" y="1701165"/>
                  <a:pt x="183832" y="1524000"/>
                  <a:pt x="172402" y="1347787"/>
                </a:cubicBezTo>
                <a:cubicBezTo>
                  <a:pt x="159067" y="1146810"/>
                  <a:pt x="170497" y="944879"/>
                  <a:pt x="172402" y="742950"/>
                </a:cubicBezTo>
                <a:cubicBezTo>
                  <a:pt x="173354" y="538162"/>
                  <a:pt x="170497" y="332422"/>
                  <a:pt x="172402" y="126682"/>
                </a:cubicBezTo>
                <a:cubicBezTo>
                  <a:pt x="172402" y="63817"/>
                  <a:pt x="120015" y="0"/>
                  <a:pt x="58102" y="12382"/>
                </a:cubicBezTo>
                <a:cubicBezTo>
                  <a:pt x="39052" y="16192"/>
                  <a:pt x="19050" y="12382"/>
                  <a:pt x="0" y="12382"/>
                </a:cubicBezTo>
                <a:moveTo>
                  <a:pt x="172402" y="1002029"/>
                </a:moveTo>
                <a:cubicBezTo>
                  <a:pt x="115252" y="1009650"/>
                  <a:pt x="55245" y="1017270"/>
                  <a:pt x="0" y="1002029"/>
                </a:cubicBezTo>
              </a:path>
            </a:pathLst>
          </a:custGeom>
          <a:noFill/>
          <a:ln w="10758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02458" y="1672573"/>
            <a:ext cx="351472" cy="2111692"/>
          </a:xfrm>
          <a:custGeom>
            <a:avLst/>
            <a:gdLst/>
            <a:ahLst/>
            <a:cxnLst/>
            <a:rect l="0" t="0" r="0" b="0"/>
            <a:pathLst>
              <a:path w="351472" h="2111692">
                <a:moveTo>
                  <a:pt x="0" y="1442632"/>
                </a:moveTo>
                <a:lnTo>
                  <a:pt x="175720" y="1442632"/>
                </a:lnTo>
                <a:moveTo>
                  <a:pt x="351441" y="2109660"/>
                </a:moveTo>
                <a:lnTo>
                  <a:pt x="290020" y="2109661"/>
                </a:lnTo>
                <a:cubicBezTo>
                  <a:pt x="226894" y="2109661"/>
                  <a:pt x="175720" y="2058487"/>
                  <a:pt x="175720" y="1995360"/>
                </a:cubicBezTo>
                <a:lnTo>
                  <a:pt x="175720" y="115252"/>
                </a:lnTo>
                <a:cubicBezTo>
                  <a:pt x="175720" y="52126"/>
                  <a:pt x="226894" y="952"/>
                  <a:pt x="290020" y="952"/>
                </a:cubicBezTo>
                <a:lnTo>
                  <a:pt x="351441" y="952"/>
                </a:lnTo>
                <a:moveTo>
                  <a:pt x="351441" y="990750"/>
                </a:moveTo>
                <a:lnTo>
                  <a:pt x="175720" y="990750"/>
                </a:lnTo>
                <a:moveTo>
                  <a:pt x="0" y="1443037"/>
                </a:moveTo>
                <a:cubicBezTo>
                  <a:pt x="58102" y="1440180"/>
                  <a:pt x="117157" y="1448752"/>
                  <a:pt x="175259" y="1443037"/>
                </a:cubicBezTo>
                <a:moveTo>
                  <a:pt x="351472" y="952"/>
                </a:moveTo>
                <a:cubicBezTo>
                  <a:pt x="331469" y="5714"/>
                  <a:pt x="310515" y="0"/>
                  <a:pt x="289559" y="952"/>
                </a:cubicBezTo>
                <a:cubicBezTo>
                  <a:pt x="226694" y="3810"/>
                  <a:pt x="180022" y="52387"/>
                  <a:pt x="175259" y="115252"/>
                </a:cubicBezTo>
                <a:cubicBezTo>
                  <a:pt x="163830" y="308610"/>
                  <a:pt x="166687" y="502919"/>
                  <a:pt x="175259" y="696277"/>
                </a:cubicBezTo>
                <a:cubicBezTo>
                  <a:pt x="184784" y="896302"/>
                  <a:pt x="190500" y="1096327"/>
                  <a:pt x="175259" y="1296352"/>
                </a:cubicBezTo>
                <a:cubicBezTo>
                  <a:pt x="159067" y="1528762"/>
                  <a:pt x="180975" y="1762124"/>
                  <a:pt x="175259" y="1995487"/>
                </a:cubicBezTo>
                <a:cubicBezTo>
                  <a:pt x="174307" y="2058352"/>
                  <a:pt x="227647" y="2104072"/>
                  <a:pt x="289559" y="2109787"/>
                </a:cubicBezTo>
                <a:cubicBezTo>
                  <a:pt x="310515" y="2111692"/>
                  <a:pt x="331469" y="2108835"/>
                  <a:pt x="351472" y="2109787"/>
                </a:cubicBezTo>
                <a:moveTo>
                  <a:pt x="351472" y="990599"/>
                </a:moveTo>
                <a:cubicBezTo>
                  <a:pt x="293369" y="989647"/>
                  <a:pt x="233362" y="1000124"/>
                  <a:pt x="175259" y="990599"/>
                </a:cubicBezTo>
              </a:path>
            </a:pathLst>
          </a:custGeom>
          <a:noFill/>
          <a:ln w="10758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6508850" y="500593"/>
            <a:ext cx="2244623" cy="457200"/>
            <a:chOff x="6508849" y="371475"/>
            <a:chExt cx="2244623" cy="457200"/>
          </a:xfrm>
        </p:grpSpPr>
        <p:sp>
          <p:nvSpPr>
            <p:cNvPr id="6" name="TextBox 5"/>
            <p:cNvSpPr txBox="1"/>
            <p:nvPr/>
          </p:nvSpPr>
          <p:spPr>
            <a:xfrm>
              <a:off x="6508849" y="371475"/>
              <a:ext cx="22446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DFE7EE"/>
                  </a:solidFill>
                  <a:latin typeface="Shantell Sans"/>
                </a:rPr>
                <a:t>Architecture hybride de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08849" y="600075"/>
              <a:ext cx="22446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DFE7EE"/>
                  </a:solidFill>
                  <a:latin typeface="Shantell Sans"/>
                </a:rPr>
                <a:t>séparation logique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90526" y="500593"/>
            <a:ext cx="5138337" cy="800099"/>
            <a:chOff x="390525" y="371475"/>
            <a:chExt cx="5138337" cy="800099"/>
          </a:xfrm>
        </p:grpSpPr>
        <p:sp>
          <p:nvSpPr>
            <p:cNvPr id="9" name="TextBox 8"/>
            <p:cNvSpPr txBox="1"/>
            <p:nvPr/>
          </p:nvSpPr>
          <p:spPr>
            <a:xfrm>
              <a:off x="390525" y="371475"/>
              <a:ext cx="513833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DFE7EE"/>
                  </a:solidFill>
                  <a:latin typeface="Shantell Sans"/>
                </a:rPr>
                <a:t>Gestion intelligente des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771525"/>
              <a:ext cx="5138337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DFE7EE"/>
                  </a:solidFill>
                  <a:latin typeface="Shantell Sans"/>
                </a:rPr>
                <a:t>données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359016" y="1587458"/>
            <a:ext cx="389734" cy="1721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DFE7EE"/>
                </a:solidFill>
                <a:latin typeface="Shantell Sans"/>
              </a:rPr>
              <a:t>Odoo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1344" y="1802642"/>
            <a:ext cx="413642" cy="1721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100" b="1">
                <a:solidFill>
                  <a:srgbClr val="DFE7EE"/>
                </a:solidFill>
                <a:latin typeface="Shantell Sans"/>
              </a:rPr>
              <a:t>Noms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359016" y="1845688"/>
            <a:ext cx="1151734" cy="387266"/>
            <a:chOff x="6359015" y="1716570"/>
            <a:chExt cx="1151734" cy="387266"/>
          </a:xfrm>
        </p:grpSpPr>
        <p:sp>
          <p:nvSpPr>
            <p:cNvPr id="14" name="TextBox 13"/>
            <p:cNvSpPr txBox="1"/>
            <p:nvPr/>
          </p:nvSpPr>
          <p:spPr>
            <a:xfrm>
              <a:off x="6359015" y="1716570"/>
              <a:ext cx="1151734" cy="129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DFE7EE"/>
                  </a:solidFill>
                  <a:latin typeface="Shantell Sans"/>
                </a:rPr>
                <a:t>Extraction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59015" y="1845633"/>
              <a:ext cx="1151734" cy="129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DFE7EE"/>
                  </a:solidFill>
                  <a:latin typeface="Shantell Sans"/>
                </a:rPr>
                <a:t>d'entreprise en temps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59015" y="1974792"/>
              <a:ext cx="1151734" cy="129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DFE7EE"/>
                  </a:solidFill>
                  <a:latin typeface="Shantell Sans"/>
                </a:rPr>
                <a:t>réel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740903" y="2060875"/>
            <a:ext cx="1044082" cy="387266"/>
            <a:chOff x="1740902" y="1931757"/>
            <a:chExt cx="1044082" cy="387266"/>
          </a:xfrm>
        </p:grpSpPr>
        <p:sp>
          <p:nvSpPr>
            <p:cNvPr id="18" name="TextBox 17"/>
            <p:cNvSpPr txBox="1"/>
            <p:nvPr/>
          </p:nvSpPr>
          <p:spPr>
            <a:xfrm>
              <a:off x="1740902" y="1931757"/>
              <a:ext cx="1044082" cy="129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DFE7EE"/>
                  </a:solidFill>
                  <a:latin typeface="Shantell Sans"/>
                </a:rPr>
                <a:t>Identités utilisateur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40902" y="2060820"/>
              <a:ext cx="1044082" cy="129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DFE7EE"/>
                  </a:solidFill>
                  <a:latin typeface="Shantell Sans"/>
                </a:rPr>
                <a:t>fréquemment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740902" y="2189979"/>
              <a:ext cx="1044082" cy="129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DFE7EE"/>
                  </a:solidFill>
                  <a:latin typeface="Shantell Sans"/>
                </a:rPr>
                <a:t>consultées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359016" y="2577255"/>
            <a:ext cx="768448" cy="1721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DFE7EE"/>
                </a:solidFill>
                <a:latin typeface="Shantell Sans"/>
              </a:rPr>
              <a:t>Salesforce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2658" y="2792440"/>
            <a:ext cx="492328" cy="1721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100" b="1">
                <a:solidFill>
                  <a:srgbClr val="DFE7EE"/>
                </a:solidFill>
                <a:latin typeface="Shantell Sans"/>
              </a:rPr>
              <a:t>Emails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74338" y="2857002"/>
            <a:ext cx="357179" cy="500263"/>
          </a:xfrm>
          <a:custGeom>
            <a:avLst/>
            <a:gdLst/>
            <a:ahLst/>
            <a:cxnLst/>
            <a:rect l="0" t="0" r="0" b="0"/>
            <a:pathLst>
              <a:path w="357179" h="500263">
                <a:moveTo>
                  <a:pt x="176437" y="162451"/>
                </a:moveTo>
                <a:cubicBezTo>
                  <a:pt x="83747" y="162451"/>
                  <a:pt x="8606" y="129698"/>
                  <a:pt x="8606" y="89294"/>
                </a:cubicBezTo>
                <a:cubicBezTo>
                  <a:pt x="8606" y="48891"/>
                  <a:pt x="83747" y="16137"/>
                  <a:pt x="176437" y="16137"/>
                </a:cubicBezTo>
                <a:cubicBezTo>
                  <a:pt x="269128" y="16137"/>
                  <a:pt x="344269" y="48891"/>
                  <a:pt x="344269" y="89294"/>
                </a:cubicBezTo>
                <a:cubicBezTo>
                  <a:pt x="344269" y="129698"/>
                  <a:pt x="269128" y="162451"/>
                  <a:pt x="176437" y="162451"/>
                </a:cubicBezTo>
                <a:close/>
                <a:moveTo>
                  <a:pt x="8606" y="89295"/>
                </a:moveTo>
                <a:lnTo>
                  <a:pt x="8606" y="201182"/>
                </a:lnTo>
                <a:cubicBezTo>
                  <a:pt x="8606" y="242064"/>
                  <a:pt x="83915" y="274339"/>
                  <a:pt x="176437" y="274339"/>
                </a:cubicBezTo>
                <a:cubicBezTo>
                  <a:pt x="268960" y="274339"/>
                  <a:pt x="344269" y="242064"/>
                  <a:pt x="344269" y="201182"/>
                </a:cubicBezTo>
                <a:lnTo>
                  <a:pt x="344269" y="89295"/>
                </a:lnTo>
                <a:moveTo>
                  <a:pt x="344269" y="201181"/>
                </a:moveTo>
                <a:lnTo>
                  <a:pt x="344269" y="313069"/>
                </a:lnTo>
                <a:cubicBezTo>
                  <a:pt x="344269" y="353951"/>
                  <a:pt x="268960" y="386226"/>
                  <a:pt x="176437" y="386226"/>
                </a:cubicBezTo>
                <a:cubicBezTo>
                  <a:pt x="83915" y="386226"/>
                  <a:pt x="8606" y="353951"/>
                  <a:pt x="8606" y="313069"/>
                </a:cubicBezTo>
                <a:lnTo>
                  <a:pt x="8606" y="201181"/>
                </a:lnTo>
                <a:moveTo>
                  <a:pt x="12912" y="414198"/>
                </a:moveTo>
                <a:lnTo>
                  <a:pt x="12912" y="457232"/>
                </a:lnTo>
                <a:moveTo>
                  <a:pt x="120496" y="463685"/>
                </a:moveTo>
                <a:lnTo>
                  <a:pt x="120496" y="500263"/>
                </a:lnTo>
                <a:moveTo>
                  <a:pt x="228080" y="463685"/>
                </a:moveTo>
                <a:lnTo>
                  <a:pt x="228080" y="500263"/>
                </a:lnTo>
                <a:moveTo>
                  <a:pt x="335664" y="414198"/>
                </a:moveTo>
                <a:lnTo>
                  <a:pt x="335664" y="457232"/>
                </a:lnTo>
                <a:moveTo>
                  <a:pt x="176437" y="163527"/>
                </a:moveTo>
                <a:cubicBezTo>
                  <a:pt x="268960" y="150617"/>
                  <a:pt x="335662" y="129100"/>
                  <a:pt x="344269" y="90370"/>
                </a:cubicBezTo>
                <a:cubicBezTo>
                  <a:pt x="352875" y="49488"/>
                  <a:pt x="268960" y="32275"/>
                  <a:pt x="176437" y="17213"/>
                </a:cubicBezTo>
                <a:cubicBezTo>
                  <a:pt x="86067" y="0"/>
                  <a:pt x="17213" y="49488"/>
                  <a:pt x="8606" y="90370"/>
                </a:cubicBezTo>
                <a:cubicBezTo>
                  <a:pt x="0" y="129100"/>
                  <a:pt x="86067" y="182892"/>
                  <a:pt x="176437" y="163527"/>
                </a:cubicBezTo>
                <a:moveTo>
                  <a:pt x="8606" y="90370"/>
                </a:moveTo>
                <a:cubicBezTo>
                  <a:pt x="6455" y="126949"/>
                  <a:pt x="15061" y="163527"/>
                  <a:pt x="8606" y="202258"/>
                </a:cubicBezTo>
                <a:cubicBezTo>
                  <a:pt x="2151" y="240988"/>
                  <a:pt x="83915" y="277566"/>
                  <a:pt x="176437" y="275415"/>
                </a:cubicBezTo>
                <a:cubicBezTo>
                  <a:pt x="268960" y="271111"/>
                  <a:pt x="352875" y="240988"/>
                  <a:pt x="344269" y="202258"/>
                </a:cubicBezTo>
                <a:cubicBezTo>
                  <a:pt x="337814" y="163527"/>
                  <a:pt x="344269" y="126949"/>
                  <a:pt x="344269" y="90370"/>
                </a:cubicBezTo>
                <a:moveTo>
                  <a:pt x="8606" y="200106"/>
                </a:moveTo>
                <a:cubicBezTo>
                  <a:pt x="8606" y="238836"/>
                  <a:pt x="2151" y="275415"/>
                  <a:pt x="8606" y="314145"/>
                </a:cubicBezTo>
                <a:cubicBezTo>
                  <a:pt x="15061" y="352875"/>
                  <a:pt x="86067" y="367937"/>
                  <a:pt x="176437" y="387302"/>
                </a:cubicBezTo>
                <a:cubicBezTo>
                  <a:pt x="266808" y="404516"/>
                  <a:pt x="357179" y="352875"/>
                  <a:pt x="344269" y="314145"/>
                </a:cubicBezTo>
                <a:cubicBezTo>
                  <a:pt x="333510" y="277566"/>
                  <a:pt x="355027" y="236684"/>
                  <a:pt x="344269" y="200106"/>
                </a:cubicBezTo>
                <a:moveTo>
                  <a:pt x="12910" y="415274"/>
                </a:moveTo>
                <a:cubicBezTo>
                  <a:pt x="12910" y="428184"/>
                  <a:pt x="10758" y="443246"/>
                  <a:pt x="12910" y="458308"/>
                </a:cubicBezTo>
                <a:moveTo>
                  <a:pt x="120494" y="462611"/>
                </a:moveTo>
                <a:cubicBezTo>
                  <a:pt x="124797" y="475521"/>
                  <a:pt x="118342" y="488431"/>
                  <a:pt x="120494" y="499190"/>
                </a:cubicBezTo>
                <a:moveTo>
                  <a:pt x="228078" y="462611"/>
                </a:moveTo>
                <a:cubicBezTo>
                  <a:pt x="225926" y="475521"/>
                  <a:pt x="228078" y="488431"/>
                  <a:pt x="228078" y="499190"/>
                </a:cubicBezTo>
                <a:moveTo>
                  <a:pt x="335662" y="415274"/>
                </a:moveTo>
                <a:cubicBezTo>
                  <a:pt x="335662" y="428184"/>
                  <a:pt x="337814" y="443246"/>
                  <a:pt x="335662" y="458308"/>
                </a:cubicBezTo>
              </a:path>
            </a:pathLst>
          </a:custGeom>
          <a:noFill/>
          <a:ln w="10758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35024" y="2857002"/>
            <a:ext cx="501341" cy="507796"/>
          </a:xfrm>
          <a:custGeom>
            <a:avLst/>
            <a:gdLst/>
            <a:ahLst/>
            <a:cxnLst/>
            <a:rect l="0" t="0" r="0" b="0"/>
            <a:pathLst>
              <a:path w="501341" h="507796">
                <a:moveTo>
                  <a:pt x="380847" y="300159"/>
                </a:moveTo>
                <a:cubicBezTo>
                  <a:pt x="432488" y="300159"/>
                  <a:pt x="473369" y="259277"/>
                  <a:pt x="473369" y="207637"/>
                </a:cubicBezTo>
                <a:cubicBezTo>
                  <a:pt x="473369" y="155996"/>
                  <a:pt x="432488" y="115115"/>
                  <a:pt x="380847" y="115115"/>
                </a:cubicBezTo>
                <a:cubicBezTo>
                  <a:pt x="361482" y="115115"/>
                  <a:pt x="344269" y="121569"/>
                  <a:pt x="329207" y="132328"/>
                </a:cubicBezTo>
                <a:cubicBezTo>
                  <a:pt x="316297" y="65626"/>
                  <a:pt x="258201" y="16137"/>
                  <a:pt x="189346" y="16137"/>
                </a:cubicBezTo>
                <a:cubicBezTo>
                  <a:pt x="109734" y="16137"/>
                  <a:pt x="47335" y="80688"/>
                  <a:pt x="47335" y="158148"/>
                </a:cubicBezTo>
                <a:cubicBezTo>
                  <a:pt x="47335" y="237760"/>
                  <a:pt x="111886" y="300159"/>
                  <a:pt x="189346" y="300159"/>
                </a:cubicBezTo>
                <a:lnTo>
                  <a:pt x="380847" y="300159"/>
                </a:lnTo>
                <a:close/>
                <a:moveTo>
                  <a:pt x="258201" y="500265"/>
                </a:moveTo>
                <a:cubicBezTo>
                  <a:pt x="234434" y="500265"/>
                  <a:pt x="215168" y="480999"/>
                  <a:pt x="215168" y="457232"/>
                </a:cubicBezTo>
                <a:cubicBezTo>
                  <a:pt x="215168" y="433464"/>
                  <a:pt x="234434" y="414198"/>
                  <a:pt x="258201" y="414198"/>
                </a:cubicBezTo>
                <a:cubicBezTo>
                  <a:pt x="281969" y="414198"/>
                  <a:pt x="301235" y="433464"/>
                  <a:pt x="301235" y="457232"/>
                </a:cubicBezTo>
                <a:cubicBezTo>
                  <a:pt x="301235" y="480999"/>
                  <a:pt x="281969" y="500265"/>
                  <a:pt x="258201" y="500265"/>
                </a:cubicBezTo>
                <a:close/>
                <a:moveTo>
                  <a:pt x="64550" y="489507"/>
                </a:moveTo>
                <a:cubicBezTo>
                  <a:pt x="88317" y="489507"/>
                  <a:pt x="107584" y="470241"/>
                  <a:pt x="107584" y="446473"/>
                </a:cubicBezTo>
                <a:cubicBezTo>
                  <a:pt x="107584" y="422706"/>
                  <a:pt x="88317" y="403440"/>
                  <a:pt x="64550" y="403440"/>
                </a:cubicBezTo>
                <a:cubicBezTo>
                  <a:pt x="40783" y="403440"/>
                  <a:pt x="21516" y="422706"/>
                  <a:pt x="21516" y="446473"/>
                </a:cubicBezTo>
                <a:cubicBezTo>
                  <a:pt x="21516" y="470241"/>
                  <a:pt x="40783" y="489507"/>
                  <a:pt x="64550" y="489507"/>
                </a:cubicBezTo>
                <a:close/>
                <a:moveTo>
                  <a:pt x="451853" y="489507"/>
                </a:moveTo>
                <a:cubicBezTo>
                  <a:pt x="475620" y="489507"/>
                  <a:pt x="494886" y="470241"/>
                  <a:pt x="494886" y="446473"/>
                </a:cubicBezTo>
                <a:cubicBezTo>
                  <a:pt x="494886" y="422706"/>
                  <a:pt x="475620" y="403440"/>
                  <a:pt x="451853" y="403440"/>
                </a:cubicBezTo>
                <a:cubicBezTo>
                  <a:pt x="428085" y="403440"/>
                  <a:pt x="408819" y="422706"/>
                  <a:pt x="408819" y="446473"/>
                </a:cubicBezTo>
                <a:cubicBezTo>
                  <a:pt x="408819" y="470241"/>
                  <a:pt x="428085" y="489507"/>
                  <a:pt x="451853" y="489507"/>
                </a:cubicBezTo>
                <a:close/>
                <a:moveTo>
                  <a:pt x="98976" y="420651"/>
                </a:moveTo>
                <a:lnTo>
                  <a:pt x="258201" y="300630"/>
                </a:lnTo>
                <a:lnTo>
                  <a:pt x="258201" y="414104"/>
                </a:lnTo>
                <a:moveTo>
                  <a:pt x="0" y="0"/>
                </a:moveTo>
                <a:moveTo>
                  <a:pt x="417426" y="420651"/>
                </a:moveTo>
                <a:lnTo>
                  <a:pt x="258201" y="300630"/>
                </a:lnTo>
                <a:moveTo>
                  <a:pt x="380847" y="301235"/>
                </a:moveTo>
                <a:cubicBezTo>
                  <a:pt x="432488" y="296932"/>
                  <a:pt x="486280" y="258201"/>
                  <a:pt x="473369" y="206561"/>
                </a:cubicBezTo>
                <a:cubicBezTo>
                  <a:pt x="460459" y="157072"/>
                  <a:pt x="432488" y="120494"/>
                  <a:pt x="380847" y="116190"/>
                </a:cubicBezTo>
                <a:cubicBezTo>
                  <a:pt x="361482" y="114039"/>
                  <a:pt x="344269" y="122645"/>
                  <a:pt x="329207" y="131252"/>
                </a:cubicBezTo>
                <a:cubicBezTo>
                  <a:pt x="316297" y="64550"/>
                  <a:pt x="258201" y="8606"/>
                  <a:pt x="189347" y="17213"/>
                </a:cubicBezTo>
                <a:cubicBezTo>
                  <a:pt x="109735" y="25820"/>
                  <a:pt x="30123" y="81763"/>
                  <a:pt x="47337" y="159224"/>
                </a:cubicBezTo>
                <a:cubicBezTo>
                  <a:pt x="64550" y="236684"/>
                  <a:pt x="111887" y="305538"/>
                  <a:pt x="189347" y="301235"/>
                </a:cubicBezTo>
                <a:cubicBezTo>
                  <a:pt x="253898" y="294780"/>
                  <a:pt x="318448" y="290477"/>
                  <a:pt x="380847" y="301235"/>
                </a:cubicBezTo>
                <a:moveTo>
                  <a:pt x="258201" y="501341"/>
                </a:moveTo>
                <a:cubicBezTo>
                  <a:pt x="279718" y="507796"/>
                  <a:pt x="299083" y="481976"/>
                  <a:pt x="301235" y="458308"/>
                </a:cubicBezTo>
                <a:cubicBezTo>
                  <a:pt x="303387" y="432488"/>
                  <a:pt x="281870" y="421729"/>
                  <a:pt x="258201" y="415274"/>
                </a:cubicBezTo>
                <a:cubicBezTo>
                  <a:pt x="234533" y="406667"/>
                  <a:pt x="213016" y="432488"/>
                  <a:pt x="215168" y="458308"/>
                </a:cubicBezTo>
                <a:cubicBezTo>
                  <a:pt x="217319" y="479824"/>
                  <a:pt x="234533" y="494886"/>
                  <a:pt x="258201" y="501341"/>
                </a:cubicBezTo>
                <a:moveTo>
                  <a:pt x="64550" y="490583"/>
                </a:moveTo>
                <a:cubicBezTo>
                  <a:pt x="88218" y="492735"/>
                  <a:pt x="98977" y="469066"/>
                  <a:pt x="107584" y="447549"/>
                </a:cubicBezTo>
                <a:cubicBezTo>
                  <a:pt x="116190" y="423881"/>
                  <a:pt x="88218" y="402364"/>
                  <a:pt x="64550" y="404516"/>
                </a:cubicBezTo>
                <a:cubicBezTo>
                  <a:pt x="40881" y="404516"/>
                  <a:pt x="21516" y="421729"/>
                  <a:pt x="21516" y="447549"/>
                </a:cubicBezTo>
                <a:cubicBezTo>
                  <a:pt x="21516" y="471218"/>
                  <a:pt x="40881" y="486280"/>
                  <a:pt x="64550" y="490583"/>
                </a:cubicBezTo>
                <a:moveTo>
                  <a:pt x="451853" y="490583"/>
                </a:moveTo>
                <a:cubicBezTo>
                  <a:pt x="475521" y="494886"/>
                  <a:pt x="486280" y="469066"/>
                  <a:pt x="494886" y="447549"/>
                </a:cubicBezTo>
                <a:cubicBezTo>
                  <a:pt x="501341" y="423881"/>
                  <a:pt x="475521" y="404516"/>
                  <a:pt x="451853" y="404516"/>
                </a:cubicBezTo>
                <a:cubicBezTo>
                  <a:pt x="428184" y="404516"/>
                  <a:pt x="417426" y="423881"/>
                  <a:pt x="408819" y="447549"/>
                </a:cubicBezTo>
                <a:cubicBezTo>
                  <a:pt x="400212" y="469066"/>
                  <a:pt x="428184" y="492735"/>
                  <a:pt x="451853" y="490583"/>
                </a:cubicBezTo>
                <a:moveTo>
                  <a:pt x="98977" y="419577"/>
                </a:moveTo>
                <a:cubicBezTo>
                  <a:pt x="137707" y="367937"/>
                  <a:pt x="202258" y="335662"/>
                  <a:pt x="258201" y="301235"/>
                </a:cubicBezTo>
                <a:cubicBezTo>
                  <a:pt x="245291" y="335662"/>
                  <a:pt x="264656" y="376544"/>
                  <a:pt x="258201" y="413122"/>
                </a:cubicBezTo>
                <a:moveTo>
                  <a:pt x="0" y="0"/>
                </a:moveTo>
                <a:moveTo>
                  <a:pt x="258201" y="301235"/>
                </a:moveTo>
                <a:cubicBezTo>
                  <a:pt x="307690" y="344269"/>
                  <a:pt x="359330" y="389454"/>
                  <a:pt x="417426" y="419577"/>
                </a:cubicBezTo>
              </a:path>
            </a:pathLst>
          </a:custGeom>
          <a:noFill/>
          <a:ln w="10758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0" name="Group 29"/>
          <p:cNvGrpSpPr/>
          <p:nvPr/>
        </p:nvGrpSpPr>
        <p:grpSpPr>
          <a:xfrm>
            <a:off x="6359016" y="2835503"/>
            <a:ext cx="1081487" cy="516349"/>
            <a:chOff x="6359015" y="2706385"/>
            <a:chExt cx="1081487" cy="516349"/>
          </a:xfrm>
        </p:grpSpPr>
        <p:sp>
          <p:nvSpPr>
            <p:cNvPr id="26" name="TextBox 25"/>
            <p:cNvSpPr txBox="1"/>
            <p:nvPr/>
          </p:nvSpPr>
          <p:spPr>
            <a:xfrm>
              <a:off x="6359015" y="2706385"/>
              <a:ext cx="1081487" cy="129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DFE7EE"/>
                  </a:solidFill>
                  <a:latin typeface="Shantell Sans"/>
                </a:rPr>
                <a:t>Récupération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59015" y="2835544"/>
              <a:ext cx="1081487" cy="129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DFE7EE"/>
                  </a:solidFill>
                  <a:latin typeface="Shantell Sans"/>
                </a:rPr>
                <a:t>dynamique des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59015" y="2964607"/>
              <a:ext cx="1081487" cy="129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DFE7EE"/>
                  </a:solidFill>
                  <a:latin typeface="Shantell Sans"/>
                </a:rPr>
                <a:t>données de relation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59015" y="3093671"/>
              <a:ext cx="1081487" cy="129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DFE7EE"/>
                  </a:solidFill>
                  <a:latin typeface="Shantell Sans"/>
                </a:rPr>
                <a:t>client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876834" y="3050673"/>
            <a:ext cx="908151" cy="387266"/>
            <a:chOff x="1876833" y="2921555"/>
            <a:chExt cx="908151" cy="387266"/>
          </a:xfrm>
        </p:grpSpPr>
        <p:sp>
          <p:nvSpPr>
            <p:cNvPr id="31" name="TextBox 30"/>
            <p:cNvSpPr txBox="1"/>
            <p:nvPr/>
          </p:nvSpPr>
          <p:spPr>
            <a:xfrm>
              <a:off x="1876833" y="2921555"/>
              <a:ext cx="908151" cy="129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DFE7EE"/>
                  </a:solidFill>
                  <a:latin typeface="Shantell Sans"/>
                </a:rPr>
                <a:t>Stockage des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876833" y="3050618"/>
              <a:ext cx="908151" cy="129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DFE7EE"/>
                  </a:solidFill>
                  <a:latin typeface="Shantell Sans"/>
                </a:rPr>
                <a:t>informations de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876833" y="3179777"/>
              <a:ext cx="908151" cy="129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DFE7EE"/>
                  </a:solidFill>
                  <a:latin typeface="Shantell Sans"/>
                </a:rPr>
                <a:t>contact primaires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1704298" y="3782238"/>
            <a:ext cx="1080687" cy="1721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100" b="1">
                <a:solidFill>
                  <a:srgbClr val="DFE7EE"/>
                </a:solidFill>
                <a:latin typeface="Shantell Sans"/>
              </a:rPr>
              <a:t>Codes Postaux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6359016" y="3696170"/>
            <a:ext cx="682523" cy="344280"/>
            <a:chOff x="6359015" y="3567052"/>
            <a:chExt cx="682523" cy="344280"/>
          </a:xfrm>
        </p:grpSpPr>
        <p:sp>
          <p:nvSpPr>
            <p:cNvPr id="36" name="TextBox 35"/>
            <p:cNvSpPr txBox="1"/>
            <p:nvPr/>
          </p:nvSpPr>
          <p:spPr>
            <a:xfrm>
              <a:off x="6359015" y="3567052"/>
              <a:ext cx="682523" cy="172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DFE7EE"/>
                  </a:solidFill>
                  <a:latin typeface="Shantell Sans"/>
                </a:rPr>
                <a:t>Données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359015" y="3739264"/>
              <a:ext cx="682523" cy="1720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DFE7EE"/>
                  </a:solidFill>
                  <a:latin typeface="Shantell Sans"/>
                </a:rPr>
                <a:t>Volatiles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742894" y="4040470"/>
            <a:ext cx="1042092" cy="387266"/>
            <a:chOff x="1742893" y="3911352"/>
            <a:chExt cx="1042092" cy="387266"/>
          </a:xfrm>
        </p:grpSpPr>
        <p:sp>
          <p:nvSpPr>
            <p:cNvPr id="39" name="TextBox 38"/>
            <p:cNvSpPr txBox="1"/>
            <p:nvPr/>
          </p:nvSpPr>
          <p:spPr>
            <a:xfrm>
              <a:off x="1742893" y="3911352"/>
              <a:ext cx="1042092" cy="129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DFE7EE"/>
                  </a:solidFill>
                  <a:latin typeface="Shantell Sans"/>
                </a:rPr>
                <a:t>Récupération rapide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742893" y="4040415"/>
              <a:ext cx="1042092" cy="129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DFE7EE"/>
                  </a:solidFill>
                  <a:latin typeface="Shantell Sans"/>
                </a:rPr>
                <a:t>des données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742893" y="4169574"/>
              <a:ext cx="1042092" cy="129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DFE7EE"/>
                  </a:solidFill>
                  <a:latin typeface="Shantell Sans"/>
                </a:rPr>
                <a:t>géographiques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359016" y="4126557"/>
            <a:ext cx="830560" cy="516349"/>
            <a:chOff x="6359015" y="3997439"/>
            <a:chExt cx="830560" cy="516349"/>
          </a:xfrm>
        </p:grpSpPr>
        <p:sp>
          <p:nvSpPr>
            <p:cNvPr id="43" name="TextBox 42"/>
            <p:cNvSpPr txBox="1"/>
            <p:nvPr/>
          </p:nvSpPr>
          <p:spPr>
            <a:xfrm>
              <a:off x="6359015" y="3997439"/>
              <a:ext cx="830560" cy="129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DFE7EE"/>
                  </a:solidFill>
                  <a:latin typeface="Shantell Sans"/>
                </a:rPr>
                <a:t>Informations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359015" y="4126598"/>
              <a:ext cx="830560" cy="129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DFE7EE"/>
                  </a:solidFill>
                  <a:latin typeface="Shantell Sans"/>
                </a:rPr>
                <a:t>transitoires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359015" y="4255661"/>
              <a:ext cx="830560" cy="129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DFE7EE"/>
                  </a:solidFill>
                  <a:latin typeface="Shantell Sans"/>
                </a:rPr>
                <a:t>récupérées à la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359015" y="4384725"/>
              <a:ext cx="830560" cy="129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DFE7EE"/>
                  </a:solidFill>
                  <a:latin typeface="Shantell Sans"/>
                </a:rPr>
                <a:t>demande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5E9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4562475" y="371475"/>
            <a:ext cx="4200525" cy="440055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381000" y="1704975"/>
            <a:ext cx="1703384" cy="457199"/>
            <a:chOff x="390525" y="1704975"/>
            <a:chExt cx="1703384" cy="457199"/>
          </a:xfrm>
        </p:grpSpPr>
        <p:sp>
          <p:nvSpPr>
            <p:cNvPr id="3" name="TextBox 2"/>
            <p:cNvSpPr txBox="1"/>
            <p:nvPr/>
          </p:nvSpPr>
          <p:spPr>
            <a:xfrm>
              <a:off x="390525" y="1704975"/>
              <a:ext cx="1703384" cy="2285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DFE7EE"/>
                  </a:solidFill>
                  <a:latin typeface="Shantell Sans"/>
                </a:rPr>
                <a:t>Authentification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0525" y="1933574"/>
              <a:ext cx="17033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DFE7EE"/>
                  </a:solidFill>
                  <a:latin typeface="Shantell Sans"/>
                </a:rPr>
                <a:t>multi-facteurs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381250" y="1704975"/>
            <a:ext cx="1052512" cy="457199"/>
            <a:chOff x="2390775" y="1704975"/>
            <a:chExt cx="1052512" cy="457199"/>
          </a:xfrm>
        </p:grpSpPr>
        <p:sp>
          <p:nvSpPr>
            <p:cNvPr id="6" name="TextBox 5"/>
            <p:cNvSpPr txBox="1"/>
            <p:nvPr/>
          </p:nvSpPr>
          <p:spPr>
            <a:xfrm>
              <a:off x="2390775" y="1704975"/>
              <a:ext cx="1052512" cy="2285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DFE7EE"/>
                  </a:solidFill>
                  <a:latin typeface="Shantell Sans"/>
                </a:rPr>
                <a:t>Résilience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390775" y="1933574"/>
              <a:ext cx="10525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DFE7EE"/>
                  </a:solidFill>
                  <a:latin typeface="Shantell Sans"/>
                </a:rPr>
                <a:t>technique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81000" y="2247900"/>
            <a:ext cx="1780479" cy="762000"/>
            <a:chOff x="390525" y="2247900"/>
            <a:chExt cx="1780479" cy="762000"/>
          </a:xfrm>
        </p:grpSpPr>
        <p:sp>
          <p:nvSpPr>
            <p:cNvPr id="9" name="TextBox 8"/>
            <p:cNvSpPr txBox="1"/>
            <p:nvPr/>
          </p:nvSpPr>
          <p:spPr>
            <a:xfrm>
              <a:off x="390525" y="2247900"/>
              <a:ext cx="178047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Basée sur le numéro de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2438400"/>
              <a:ext cx="178047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téléphone et les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525" y="2628900"/>
              <a:ext cx="178047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identifiants fournis par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0525" y="2819400"/>
              <a:ext cx="178047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le client.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381250" y="2247900"/>
            <a:ext cx="1751809" cy="762000"/>
            <a:chOff x="2390775" y="2247900"/>
            <a:chExt cx="1751809" cy="762000"/>
          </a:xfrm>
        </p:grpSpPr>
        <p:sp>
          <p:nvSpPr>
            <p:cNvPr id="14" name="TextBox 13"/>
            <p:cNvSpPr txBox="1"/>
            <p:nvPr/>
          </p:nvSpPr>
          <p:spPr>
            <a:xfrm>
              <a:off x="2390775" y="2247900"/>
              <a:ext cx="175180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Gestion native des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90775" y="2438400"/>
              <a:ext cx="175180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retries, timeouts et mé-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90775" y="2628900"/>
              <a:ext cx="175180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canismes de fallback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390775" y="2819400"/>
              <a:ext cx="175180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dans les couches API.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953000" y="3048000"/>
            <a:ext cx="2391670" cy="800100"/>
            <a:chOff x="4962525" y="3048000"/>
            <a:chExt cx="2391670" cy="800100"/>
          </a:xfrm>
        </p:grpSpPr>
        <p:sp>
          <p:nvSpPr>
            <p:cNvPr id="19" name="TextBox 18"/>
            <p:cNvSpPr txBox="1"/>
            <p:nvPr/>
          </p:nvSpPr>
          <p:spPr>
            <a:xfrm>
              <a:off x="4962525" y="3048000"/>
              <a:ext cx="239167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DFE7EE"/>
                  </a:solidFill>
                  <a:latin typeface="Shantell Sans"/>
                </a:rPr>
                <a:t>Sécurité et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62525" y="3448050"/>
              <a:ext cx="239167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DFE7EE"/>
                  </a:solidFill>
                  <a:latin typeface="Shantell Sans"/>
                </a:rPr>
                <a:t>fiabilité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381250" y="3371850"/>
            <a:ext cx="1283789" cy="457200"/>
            <a:chOff x="2390775" y="3371850"/>
            <a:chExt cx="1283789" cy="457200"/>
          </a:xfrm>
        </p:grpSpPr>
        <p:sp>
          <p:nvSpPr>
            <p:cNvPr id="22" name="TextBox 21"/>
            <p:cNvSpPr txBox="1"/>
            <p:nvPr/>
          </p:nvSpPr>
          <p:spPr>
            <a:xfrm>
              <a:off x="2390775" y="3371850"/>
              <a:ext cx="12837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DFE7EE"/>
                  </a:solidFill>
                  <a:latin typeface="Shantell Sans"/>
                </a:rPr>
                <a:t>Audit et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390775" y="3600450"/>
              <a:ext cx="12837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DFE7EE"/>
                  </a:solidFill>
                  <a:latin typeface="Shantell Sans"/>
                </a:rPr>
                <a:t>amélioration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953000" y="3943350"/>
            <a:ext cx="3315795" cy="457200"/>
            <a:chOff x="4962525" y="3943350"/>
            <a:chExt cx="3315795" cy="457200"/>
          </a:xfrm>
        </p:grpSpPr>
        <p:sp>
          <p:nvSpPr>
            <p:cNvPr id="25" name="TextBox 24"/>
            <p:cNvSpPr txBox="1"/>
            <p:nvPr/>
          </p:nvSpPr>
          <p:spPr>
            <a:xfrm>
              <a:off x="4962525" y="3943350"/>
              <a:ext cx="33157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DFE7EE"/>
                  </a:solidFill>
                  <a:latin typeface="Shantell Sans"/>
                </a:rPr>
                <a:t>Garantir la protection des données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962525" y="4171950"/>
              <a:ext cx="33157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DFE7EE"/>
                  </a:solidFill>
                  <a:latin typeface="Shantell Sans"/>
                </a:rPr>
                <a:t>et la continuité du service.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381249" y="3914775"/>
            <a:ext cx="1790700" cy="762000"/>
            <a:chOff x="2390774" y="3914775"/>
            <a:chExt cx="1790700" cy="762000"/>
          </a:xfrm>
        </p:grpSpPr>
        <p:sp>
          <p:nvSpPr>
            <p:cNvPr id="28" name="TextBox 27"/>
            <p:cNvSpPr txBox="1"/>
            <p:nvPr/>
          </p:nvSpPr>
          <p:spPr>
            <a:xfrm>
              <a:off x="2390774" y="3914775"/>
              <a:ext cx="1790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Journalisation complète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90774" y="4105275"/>
              <a:ext cx="1790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dans une base de logs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90774" y="4295775"/>
              <a:ext cx="1790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pour l'analyse et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390774" y="4486275"/>
              <a:ext cx="1790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FE7EE"/>
                  </a:solidFill>
                  <a:latin typeface="Shantell Sans"/>
                </a:rPr>
                <a:t>l'entraînement futur.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5E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62855" y="1889791"/>
            <a:ext cx="2495550" cy="1290637"/>
          </a:xfrm>
          <a:custGeom>
            <a:avLst/>
            <a:gdLst/>
            <a:ahLst/>
            <a:cxnLst/>
            <a:rect l="0" t="0" r="0" b="0"/>
            <a:pathLst>
              <a:path w="2495550" h="1290637">
                <a:moveTo>
                  <a:pt x="13334" y="14287"/>
                </a:moveTo>
                <a:lnTo>
                  <a:pt x="13334" y="1280353"/>
                </a:lnTo>
                <a:lnTo>
                  <a:pt x="2477081" y="1280353"/>
                </a:lnTo>
                <a:lnTo>
                  <a:pt x="2477081" y="14287"/>
                </a:lnTo>
                <a:close/>
                <a:moveTo>
                  <a:pt x="13334" y="14287"/>
                </a:moveTo>
                <a:cubicBezTo>
                  <a:pt x="168592" y="18097"/>
                  <a:pt x="324802" y="24764"/>
                  <a:pt x="479107" y="14287"/>
                </a:cubicBezTo>
                <a:cubicBezTo>
                  <a:pt x="631507" y="3810"/>
                  <a:pt x="783907" y="15239"/>
                  <a:pt x="935355" y="14287"/>
                </a:cubicBezTo>
                <a:cubicBezTo>
                  <a:pt x="1122997" y="13335"/>
                  <a:pt x="1311592" y="10477"/>
                  <a:pt x="1498282" y="14287"/>
                </a:cubicBezTo>
                <a:cubicBezTo>
                  <a:pt x="1645919" y="17145"/>
                  <a:pt x="1793557" y="0"/>
                  <a:pt x="1940242" y="14287"/>
                </a:cubicBezTo>
                <a:cubicBezTo>
                  <a:pt x="2118359" y="31432"/>
                  <a:pt x="2298382" y="27622"/>
                  <a:pt x="2477452" y="14287"/>
                </a:cubicBezTo>
                <a:cubicBezTo>
                  <a:pt x="2481262" y="148589"/>
                  <a:pt x="2479357" y="281939"/>
                  <a:pt x="2477452" y="416242"/>
                </a:cubicBezTo>
                <a:cubicBezTo>
                  <a:pt x="2474594" y="562927"/>
                  <a:pt x="2482215" y="710565"/>
                  <a:pt x="2477452" y="857250"/>
                </a:cubicBezTo>
                <a:cubicBezTo>
                  <a:pt x="2472690" y="998220"/>
                  <a:pt x="2495550" y="1140142"/>
                  <a:pt x="2477452" y="1280159"/>
                </a:cubicBezTo>
                <a:cubicBezTo>
                  <a:pt x="2256472" y="1275397"/>
                  <a:pt x="2035492" y="1279207"/>
                  <a:pt x="1815465" y="1280159"/>
                </a:cubicBezTo>
                <a:cubicBezTo>
                  <a:pt x="1624965" y="1281112"/>
                  <a:pt x="1434465" y="1289684"/>
                  <a:pt x="1244917" y="1280159"/>
                </a:cubicBezTo>
                <a:cubicBezTo>
                  <a:pt x="1054417" y="1270634"/>
                  <a:pt x="862965" y="1270634"/>
                  <a:pt x="671512" y="1280159"/>
                </a:cubicBezTo>
                <a:cubicBezTo>
                  <a:pt x="452437" y="1290637"/>
                  <a:pt x="232409" y="1285875"/>
                  <a:pt x="13334" y="1280159"/>
                </a:cubicBezTo>
                <a:cubicBezTo>
                  <a:pt x="13334" y="1066800"/>
                  <a:pt x="26669" y="852487"/>
                  <a:pt x="13334" y="639127"/>
                </a:cubicBezTo>
                <a:cubicBezTo>
                  <a:pt x="0" y="431482"/>
                  <a:pt x="26669" y="221932"/>
                  <a:pt x="13334" y="14287"/>
                </a:cubicBezTo>
              </a:path>
            </a:pathLst>
          </a:custGeom>
          <a:noFill/>
          <a:ln w="12829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31418" y="1897411"/>
            <a:ext cx="2483167" cy="1285875"/>
          </a:xfrm>
          <a:custGeom>
            <a:avLst/>
            <a:gdLst/>
            <a:ahLst/>
            <a:cxnLst/>
            <a:rect l="0" t="0" r="0" b="0"/>
            <a:pathLst>
              <a:path w="2483167" h="1285875">
                <a:moveTo>
                  <a:pt x="8572" y="6667"/>
                </a:moveTo>
                <a:lnTo>
                  <a:pt x="8572" y="1272733"/>
                </a:lnTo>
                <a:lnTo>
                  <a:pt x="2470637" y="1272733"/>
                </a:lnTo>
                <a:lnTo>
                  <a:pt x="2470637" y="6667"/>
                </a:lnTo>
                <a:close/>
                <a:moveTo>
                  <a:pt x="8572" y="6667"/>
                </a:moveTo>
                <a:cubicBezTo>
                  <a:pt x="139065" y="15239"/>
                  <a:pt x="269557" y="11429"/>
                  <a:pt x="400049" y="6667"/>
                </a:cubicBezTo>
                <a:cubicBezTo>
                  <a:pt x="528637" y="1904"/>
                  <a:pt x="657224" y="8572"/>
                  <a:pt x="785812" y="6667"/>
                </a:cubicBezTo>
                <a:cubicBezTo>
                  <a:pt x="937260" y="3809"/>
                  <a:pt x="1088707" y="14287"/>
                  <a:pt x="1239202" y="6667"/>
                </a:cubicBezTo>
                <a:cubicBezTo>
                  <a:pt x="1365885" y="0"/>
                  <a:pt x="1492567" y="2857"/>
                  <a:pt x="1619249" y="6667"/>
                </a:cubicBezTo>
                <a:cubicBezTo>
                  <a:pt x="1759267" y="11429"/>
                  <a:pt x="1899285" y="3809"/>
                  <a:pt x="2039302" y="6667"/>
                </a:cubicBezTo>
                <a:cubicBezTo>
                  <a:pt x="2183130" y="9525"/>
                  <a:pt x="2327910" y="20954"/>
                  <a:pt x="2470785" y="6667"/>
                </a:cubicBezTo>
                <a:cubicBezTo>
                  <a:pt x="2468880" y="209550"/>
                  <a:pt x="2483167" y="412432"/>
                  <a:pt x="2470785" y="614362"/>
                </a:cubicBezTo>
                <a:cubicBezTo>
                  <a:pt x="2456497" y="833437"/>
                  <a:pt x="2473642" y="1053464"/>
                  <a:pt x="2470785" y="1272539"/>
                </a:cubicBezTo>
                <a:cubicBezTo>
                  <a:pt x="2304097" y="1285875"/>
                  <a:pt x="2135505" y="1270634"/>
                  <a:pt x="1967864" y="1272539"/>
                </a:cubicBezTo>
                <a:cubicBezTo>
                  <a:pt x="1795462" y="1275397"/>
                  <a:pt x="1623060" y="1280159"/>
                  <a:pt x="1450657" y="1272539"/>
                </a:cubicBezTo>
                <a:cubicBezTo>
                  <a:pt x="1288732" y="1265872"/>
                  <a:pt x="1125855" y="1277302"/>
                  <a:pt x="962977" y="1272539"/>
                </a:cubicBezTo>
                <a:cubicBezTo>
                  <a:pt x="798195" y="1268730"/>
                  <a:pt x="633412" y="1273492"/>
                  <a:pt x="468629" y="1272539"/>
                </a:cubicBezTo>
                <a:cubicBezTo>
                  <a:pt x="315277" y="1271587"/>
                  <a:pt x="161925" y="1273492"/>
                  <a:pt x="8572" y="1272539"/>
                </a:cubicBezTo>
                <a:cubicBezTo>
                  <a:pt x="20954" y="1123950"/>
                  <a:pt x="7620" y="975359"/>
                  <a:pt x="8572" y="825817"/>
                </a:cubicBezTo>
                <a:cubicBezTo>
                  <a:pt x="9525" y="680084"/>
                  <a:pt x="0" y="534352"/>
                  <a:pt x="8572" y="388619"/>
                </a:cubicBezTo>
                <a:cubicBezTo>
                  <a:pt x="16192" y="261937"/>
                  <a:pt x="18097" y="133350"/>
                  <a:pt x="8572" y="6667"/>
                </a:cubicBezTo>
              </a:path>
            </a:pathLst>
          </a:custGeom>
          <a:noFill/>
          <a:ln w="12829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4503796" y="1716856"/>
            <a:ext cx="72390" cy="1453515"/>
            <a:chOff x="4535805" y="1606888"/>
            <a:chExt cx="72390" cy="1453515"/>
          </a:xfrm>
        </p:grpSpPr>
        <p:sp>
          <p:nvSpPr>
            <p:cNvPr id="4" name="Rounded Rectangle 3"/>
            <p:cNvSpPr/>
            <p:nvPr/>
          </p:nvSpPr>
          <p:spPr>
            <a:xfrm>
              <a:off x="4556760" y="1624033"/>
              <a:ext cx="28575" cy="1436370"/>
            </a:xfrm>
            <a:custGeom>
              <a:avLst/>
              <a:gdLst/>
              <a:ahLst/>
              <a:cxnLst/>
              <a:rect l="0" t="0" r="0" b="0"/>
              <a:pathLst>
                <a:path w="28575" h="1436370">
                  <a:moveTo>
                    <a:pt x="15240" y="0"/>
                  </a:moveTo>
                  <a:cubicBezTo>
                    <a:pt x="15240" y="751332"/>
                    <a:pt x="15240" y="658463"/>
                    <a:pt x="15240" y="1436179"/>
                  </a:cubicBezTo>
                  <a:moveTo>
                    <a:pt x="15240" y="1436370"/>
                  </a:moveTo>
                  <a:cubicBezTo>
                    <a:pt x="20955" y="1016317"/>
                    <a:pt x="0" y="849629"/>
                    <a:pt x="15240" y="667702"/>
                  </a:cubicBezTo>
                  <a:cubicBezTo>
                    <a:pt x="28575" y="512445"/>
                    <a:pt x="2857" y="344805"/>
                    <a:pt x="15240" y="0"/>
                  </a:cubicBezTo>
                </a:path>
              </a:pathLst>
            </a:custGeom>
            <a:noFill/>
            <a:ln w="12829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535805" y="1606888"/>
              <a:ext cx="72390" cy="67627"/>
            </a:xfrm>
            <a:custGeom>
              <a:avLst/>
              <a:gdLst/>
              <a:ahLst/>
              <a:cxnLst/>
              <a:rect l="0" t="0" r="0" b="0"/>
              <a:pathLst>
                <a:path w="72390" h="67627">
                  <a:moveTo>
                    <a:pt x="36195" y="0"/>
                  </a:moveTo>
                  <a:lnTo>
                    <a:pt x="0" y="62864"/>
                  </a:lnTo>
                  <a:lnTo>
                    <a:pt x="72390" y="62864"/>
                  </a:lnTo>
                  <a:close/>
                  <a:moveTo>
                    <a:pt x="36195" y="0"/>
                  </a:moveTo>
                  <a:cubicBezTo>
                    <a:pt x="42862" y="22860"/>
                    <a:pt x="68579" y="39052"/>
                    <a:pt x="72390" y="62864"/>
                  </a:cubicBezTo>
                  <a:cubicBezTo>
                    <a:pt x="48577" y="67627"/>
                    <a:pt x="23812" y="67627"/>
                    <a:pt x="0" y="62864"/>
                  </a:cubicBezTo>
                  <a:cubicBezTo>
                    <a:pt x="7620" y="40004"/>
                    <a:pt x="23812" y="20954"/>
                    <a:pt x="36195" y="0"/>
                  </a:cubicBezTo>
                </a:path>
              </a:pathLst>
            </a:custGeom>
            <a:solidFill>
              <a:srgbClr val="DFE7EE"/>
            </a:solidFill>
            <a:ln w="12829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2060961" y="3155858"/>
            <a:ext cx="2498407" cy="1093470"/>
          </a:xfrm>
          <a:custGeom>
            <a:avLst/>
            <a:gdLst/>
            <a:ahLst/>
            <a:cxnLst/>
            <a:rect l="0" t="0" r="0" b="0"/>
            <a:pathLst>
              <a:path w="2498407" h="1093470">
                <a:moveTo>
                  <a:pt x="14287" y="14287"/>
                </a:moveTo>
                <a:lnTo>
                  <a:pt x="14287" y="1075021"/>
                </a:lnTo>
                <a:lnTo>
                  <a:pt x="2479925" y="1075021"/>
                </a:lnTo>
                <a:lnTo>
                  <a:pt x="2479925" y="14287"/>
                </a:lnTo>
                <a:close/>
                <a:moveTo>
                  <a:pt x="14287" y="14287"/>
                </a:moveTo>
                <a:cubicBezTo>
                  <a:pt x="225742" y="24765"/>
                  <a:pt x="438150" y="8572"/>
                  <a:pt x="649605" y="14287"/>
                </a:cubicBezTo>
                <a:cubicBezTo>
                  <a:pt x="853440" y="20002"/>
                  <a:pt x="1059180" y="27622"/>
                  <a:pt x="1263015" y="14287"/>
                </a:cubicBezTo>
                <a:cubicBezTo>
                  <a:pt x="1476374" y="952"/>
                  <a:pt x="1690687" y="20002"/>
                  <a:pt x="1904047" y="14287"/>
                </a:cubicBezTo>
                <a:cubicBezTo>
                  <a:pt x="2095499" y="9525"/>
                  <a:pt x="2288857" y="0"/>
                  <a:pt x="2480310" y="14287"/>
                </a:cubicBezTo>
                <a:cubicBezTo>
                  <a:pt x="2466975" y="179070"/>
                  <a:pt x="2463165" y="344804"/>
                  <a:pt x="2480310" y="508634"/>
                </a:cubicBezTo>
                <a:cubicBezTo>
                  <a:pt x="2498407" y="696277"/>
                  <a:pt x="2494597" y="886777"/>
                  <a:pt x="2480310" y="1075372"/>
                </a:cubicBezTo>
                <a:cubicBezTo>
                  <a:pt x="2213610" y="1076325"/>
                  <a:pt x="1946910" y="1059180"/>
                  <a:pt x="1680210" y="1075372"/>
                </a:cubicBezTo>
                <a:cubicBezTo>
                  <a:pt x="1376362" y="1093470"/>
                  <a:pt x="1071562" y="1059180"/>
                  <a:pt x="767715" y="1075372"/>
                </a:cubicBezTo>
                <a:cubicBezTo>
                  <a:pt x="517207" y="1088707"/>
                  <a:pt x="264795" y="1064895"/>
                  <a:pt x="14287" y="1075372"/>
                </a:cubicBezTo>
                <a:cubicBezTo>
                  <a:pt x="0" y="721995"/>
                  <a:pt x="20955" y="367665"/>
                  <a:pt x="14287" y="14287"/>
                </a:cubicBezTo>
              </a:path>
            </a:pathLst>
          </a:custGeom>
          <a:noFill/>
          <a:ln w="12829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34213" y="3158716"/>
            <a:ext cx="2484120" cy="1078230"/>
          </a:xfrm>
          <a:custGeom>
            <a:avLst/>
            <a:gdLst/>
            <a:ahLst/>
            <a:cxnLst/>
            <a:rect l="0" t="0" r="0" b="0"/>
            <a:pathLst>
              <a:path w="2484120" h="1078230">
                <a:moveTo>
                  <a:pt x="6667" y="11429"/>
                </a:moveTo>
                <a:lnTo>
                  <a:pt x="6667" y="1072164"/>
                </a:lnTo>
                <a:lnTo>
                  <a:pt x="2468732" y="1072164"/>
                </a:lnTo>
                <a:lnTo>
                  <a:pt x="2468732" y="11429"/>
                </a:lnTo>
                <a:close/>
                <a:moveTo>
                  <a:pt x="6667" y="11429"/>
                </a:moveTo>
                <a:cubicBezTo>
                  <a:pt x="278129" y="8572"/>
                  <a:pt x="548639" y="13334"/>
                  <a:pt x="819149" y="11429"/>
                </a:cubicBezTo>
                <a:cubicBezTo>
                  <a:pt x="1076324" y="9525"/>
                  <a:pt x="1333499" y="20954"/>
                  <a:pt x="1590674" y="11429"/>
                </a:cubicBezTo>
                <a:cubicBezTo>
                  <a:pt x="1883092" y="0"/>
                  <a:pt x="2176462" y="20002"/>
                  <a:pt x="2468880" y="11429"/>
                </a:cubicBezTo>
                <a:cubicBezTo>
                  <a:pt x="2467927" y="199072"/>
                  <a:pt x="2484120" y="386714"/>
                  <a:pt x="2468880" y="574357"/>
                </a:cubicBezTo>
                <a:cubicBezTo>
                  <a:pt x="2455545" y="739139"/>
                  <a:pt x="2468880" y="905827"/>
                  <a:pt x="2468880" y="1072514"/>
                </a:cubicBezTo>
                <a:cubicBezTo>
                  <a:pt x="2302192" y="1062989"/>
                  <a:pt x="2135505" y="1069657"/>
                  <a:pt x="1968817" y="1072514"/>
                </a:cubicBezTo>
                <a:cubicBezTo>
                  <a:pt x="1812607" y="1074420"/>
                  <a:pt x="1656397" y="1078230"/>
                  <a:pt x="1501139" y="1072514"/>
                </a:cubicBezTo>
                <a:cubicBezTo>
                  <a:pt x="1328737" y="1064895"/>
                  <a:pt x="1155382" y="1072514"/>
                  <a:pt x="982979" y="1072514"/>
                </a:cubicBezTo>
                <a:cubicBezTo>
                  <a:pt x="807720" y="1071562"/>
                  <a:pt x="631507" y="1066800"/>
                  <a:pt x="456247" y="1072514"/>
                </a:cubicBezTo>
                <a:cubicBezTo>
                  <a:pt x="306704" y="1077277"/>
                  <a:pt x="156209" y="1066800"/>
                  <a:pt x="6667" y="1072514"/>
                </a:cubicBezTo>
                <a:cubicBezTo>
                  <a:pt x="11429" y="894397"/>
                  <a:pt x="13334" y="716279"/>
                  <a:pt x="6667" y="538162"/>
                </a:cubicBezTo>
                <a:cubicBezTo>
                  <a:pt x="0" y="362902"/>
                  <a:pt x="9525" y="186689"/>
                  <a:pt x="6667" y="11429"/>
                </a:cubicBezTo>
              </a:path>
            </a:pathLst>
          </a:custGeom>
          <a:noFill/>
          <a:ln w="12829">
            <a:solidFill>
              <a:srgbClr val="DFE7EE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1" name="Group 10"/>
          <p:cNvGrpSpPr/>
          <p:nvPr/>
        </p:nvGrpSpPr>
        <p:grpSpPr>
          <a:xfrm>
            <a:off x="4503796" y="3170146"/>
            <a:ext cx="72390" cy="1247774"/>
            <a:chOff x="4535805" y="3060178"/>
            <a:chExt cx="72390" cy="1247774"/>
          </a:xfrm>
        </p:grpSpPr>
        <p:sp>
          <p:nvSpPr>
            <p:cNvPr id="9" name="Rounded Rectangle 8"/>
            <p:cNvSpPr/>
            <p:nvPr/>
          </p:nvSpPr>
          <p:spPr>
            <a:xfrm>
              <a:off x="4559617" y="3060178"/>
              <a:ext cx="24765" cy="1229963"/>
            </a:xfrm>
            <a:custGeom>
              <a:avLst/>
              <a:gdLst/>
              <a:ahLst/>
              <a:cxnLst/>
              <a:rect l="0" t="0" r="0" b="0"/>
              <a:pathLst>
                <a:path w="24765" h="1229963">
                  <a:moveTo>
                    <a:pt x="12382" y="1229963"/>
                  </a:moveTo>
                  <a:cubicBezTo>
                    <a:pt x="12382" y="589692"/>
                    <a:pt x="12382" y="667131"/>
                    <a:pt x="12382" y="0"/>
                  </a:cubicBezTo>
                  <a:moveTo>
                    <a:pt x="12382" y="1229677"/>
                  </a:moveTo>
                  <a:cubicBezTo>
                    <a:pt x="1904" y="1002982"/>
                    <a:pt x="0" y="864870"/>
                    <a:pt x="12382" y="753427"/>
                  </a:cubicBezTo>
                  <a:cubicBezTo>
                    <a:pt x="24765" y="643890"/>
                    <a:pt x="8572" y="557212"/>
                    <a:pt x="12382" y="431482"/>
                  </a:cubicBezTo>
                  <a:cubicBezTo>
                    <a:pt x="16192" y="327659"/>
                    <a:pt x="0" y="195262"/>
                    <a:pt x="12382" y="0"/>
                  </a:cubicBezTo>
                </a:path>
              </a:pathLst>
            </a:custGeom>
            <a:noFill/>
            <a:ln w="12829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535805" y="4244135"/>
              <a:ext cx="72390" cy="63817"/>
            </a:xfrm>
            <a:custGeom>
              <a:avLst/>
              <a:gdLst/>
              <a:ahLst/>
              <a:cxnLst/>
              <a:rect l="0" t="0" r="0" b="0"/>
              <a:pathLst>
                <a:path w="72390" h="63817">
                  <a:moveTo>
                    <a:pt x="36195" y="63817"/>
                  </a:moveTo>
                  <a:lnTo>
                    <a:pt x="72390" y="952"/>
                  </a:lnTo>
                  <a:lnTo>
                    <a:pt x="0" y="952"/>
                  </a:lnTo>
                  <a:close/>
                  <a:moveTo>
                    <a:pt x="36195" y="63817"/>
                  </a:moveTo>
                  <a:cubicBezTo>
                    <a:pt x="17145" y="48577"/>
                    <a:pt x="9525" y="22859"/>
                    <a:pt x="0" y="952"/>
                  </a:cubicBezTo>
                  <a:cubicBezTo>
                    <a:pt x="23812" y="3809"/>
                    <a:pt x="48577" y="0"/>
                    <a:pt x="72390" y="952"/>
                  </a:cubicBezTo>
                  <a:cubicBezTo>
                    <a:pt x="62865" y="22859"/>
                    <a:pt x="52387" y="45720"/>
                    <a:pt x="36195" y="63817"/>
                  </a:cubicBezTo>
                </a:path>
              </a:pathLst>
            </a:custGeom>
            <a:solidFill>
              <a:srgbClr val="DFE7EE"/>
            </a:solidFill>
            <a:ln w="12829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888915" y="3133951"/>
            <a:ext cx="5302568" cy="72390"/>
            <a:chOff x="1920924" y="3023983"/>
            <a:chExt cx="5302568" cy="72390"/>
          </a:xfrm>
        </p:grpSpPr>
        <p:sp>
          <p:nvSpPr>
            <p:cNvPr id="12" name="Rounded Rectangle 11"/>
            <p:cNvSpPr/>
            <p:nvPr/>
          </p:nvSpPr>
          <p:spPr>
            <a:xfrm>
              <a:off x="1939022" y="3042080"/>
              <a:ext cx="5266372" cy="35242"/>
            </a:xfrm>
            <a:custGeom>
              <a:avLst/>
              <a:gdLst/>
              <a:ahLst/>
              <a:cxnLst/>
              <a:rect l="0" t="0" r="0" b="0"/>
              <a:pathLst>
                <a:path w="5266372" h="35242">
                  <a:moveTo>
                    <a:pt x="5266086" y="18097"/>
                  </a:moveTo>
                  <a:cubicBezTo>
                    <a:pt x="3840765" y="18097"/>
                    <a:pt x="1425702" y="18097"/>
                    <a:pt x="190" y="18097"/>
                  </a:cubicBezTo>
                  <a:moveTo>
                    <a:pt x="0" y="18097"/>
                  </a:moveTo>
                  <a:cubicBezTo>
                    <a:pt x="145732" y="14287"/>
                    <a:pt x="300990" y="14287"/>
                    <a:pt x="464820" y="18097"/>
                  </a:cubicBezTo>
                  <a:cubicBezTo>
                    <a:pt x="621982" y="21907"/>
                    <a:pt x="786765" y="15239"/>
                    <a:pt x="957262" y="18097"/>
                  </a:cubicBezTo>
                  <a:cubicBezTo>
                    <a:pt x="1127759" y="20954"/>
                    <a:pt x="1304925" y="20954"/>
                    <a:pt x="1484947" y="18097"/>
                  </a:cubicBezTo>
                  <a:cubicBezTo>
                    <a:pt x="1653540" y="15239"/>
                    <a:pt x="1824990" y="10477"/>
                    <a:pt x="1997392" y="18097"/>
                  </a:cubicBezTo>
                  <a:cubicBezTo>
                    <a:pt x="2201227" y="27622"/>
                    <a:pt x="2409825" y="0"/>
                    <a:pt x="2615565" y="18097"/>
                  </a:cubicBezTo>
                  <a:cubicBezTo>
                    <a:pt x="2809875" y="35242"/>
                    <a:pt x="3005137" y="8572"/>
                    <a:pt x="3197542" y="18097"/>
                  </a:cubicBezTo>
                  <a:cubicBezTo>
                    <a:pt x="3384232" y="27622"/>
                    <a:pt x="3570922" y="8572"/>
                    <a:pt x="3752850" y="18097"/>
                  </a:cubicBezTo>
                  <a:cubicBezTo>
                    <a:pt x="3939540" y="27622"/>
                    <a:pt x="4123372" y="25717"/>
                    <a:pt x="4300537" y="18097"/>
                  </a:cubicBezTo>
                  <a:cubicBezTo>
                    <a:pt x="4483417" y="10477"/>
                    <a:pt x="4659629" y="13334"/>
                    <a:pt x="4827270" y="18097"/>
                  </a:cubicBezTo>
                  <a:cubicBezTo>
                    <a:pt x="4981575" y="22859"/>
                    <a:pt x="5129212" y="8572"/>
                    <a:pt x="5266372" y="18097"/>
                  </a:cubicBezTo>
                </a:path>
              </a:pathLst>
            </a:custGeom>
            <a:noFill/>
            <a:ln w="12829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20924" y="3023983"/>
              <a:ext cx="65722" cy="72390"/>
            </a:xfrm>
            <a:custGeom>
              <a:avLst/>
              <a:gdLst/>
              <a:ahLst/>
              <a:cxnLst/>
              <a:rect l="0" t="0" r="0" b="0"/>
              <a:pathLst>
                <a:path w="65722" h="72390">
                  <a:moveTo>
                    <a:pt x="0" y="36195"/>
                  </a:moveTo>
                  <a:lnTo>
                    <a:pt x="62865" y="72390"/>
                  </a:lnTo>
                  <a:lnTo>
                    <a:pt x="62865" y="0"/>
                  </a:lnTo>
                  <a:close/>
                  <a:moveTo>
                    <a:pt x="0" y="36195"/>
                  </a:moveTo>
                  <a:cubicBezTo>
                    <a:pt x="19050" y="20954"/>
                    <a:pt x="40005" y="8572"/>
                    <a:pt x="62865" y="0"/>
                  </a:cubicBezTo>
                  <a:cubicBezTo>
                    <a:pt x="65722" y="23812"/>
                    <a:pt x="63817" y="48577"/>
                    <a:pt x="62865" y="72390"/>
                  </a:cubicBezTo>
                  <a:cubicBezTo>
                    <a:pt x="43815" y="58102"/>
                    <a:pt x="18097" y="52387"/>
                    <a:pt x="0" y="36195"/>
                  </a:cubicBezTo>
                </a:path>
              </a:pathLst>
            </a:custGeom>
            <a:solidFill>
              <a:srgbClr val="DFE7EE"/>
            </a:solidFill>
            <a:ln w="12829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156817" y="3023983"/>
              <a:ext cx="66675" cy="72390"/>
            </a:xfrm>
            <a:custGeom>
              <a:avLst/>
              <a:gdLst/>
              <a:ahLst/>
              <a:cxnLst/>
              <a:rect l="0" t="0" r="0" b="0"/>
              <a:pathLst>
                <a:path w="66675" h="72390">
                  <a:moveTo>
                    <a:pt x="66675" y="36195"/>
                  </a:moveTo>
                  <a:lnTo>
                    <a:pt x="2857" y="0"/>
                  </a:lnTo>
                  <a:lnTo>
                    <a:pt x="2857" y="72390"/>
                  </a:lnTo>
                  <a:close/>
                  <a:moveTo>
                    <a:pt x="66675" y="36195"/>
                  </a:moveTo>
                  <a:cubicBezTo>
                    <a:pt x="47625" y="51435"/>
                    <a:pt x="25717" y="63817"/>
                    <a:pt x="2857" y="72390"/>
                  </a:cubicBezTo>
                  <a:cubicBezTo>
                    <a:pt x="0" y="48577"/>
                    <a:pt x="1905" y="23812"/>
                    <a:pt x="2857" y="0"/>
                  </a:cubicBezTo>
                  <a:cubicBezTo>
                    <a:pt x="22860" y="14287"/>
                    <a:pt x="48577" y="20002"/>
                    <a:pt x="66675" y="36195"/>
                  </a:cubicBezTo>
                </a:path>
              </a:pathLst>
            </a:custGeom>
            <a:solidFill>
              <a:srgbClr val="DFE7EE"/>
            </a:solidFill>
            <a:ln w="12829">
              <a:solidFill>
                <a:srgbClr val="DFE7E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629208" y="481443"/>
            <a:ext cx="5821565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DFE7EE"/>
                </a:solidFill>
                <a:latin typeface="Shantell Sans"/>
              </a:rPr>
              <a:t>Optimiser l'architecture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4314" y="1472903"/>
            <a:ext cx="451342" cy="1231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>
                <a:solidFill>
                  <a:srgbClr val="DFE7EE"/>
                </a:solidFill>
                <a:latin typeface="Shantell Sans"/>
              </a:rPr>
              <a:t>Stratégie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4326" y="2109400"/>
            <a:ext cx="1767487" cy="205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DFE7EE"/>
                </a:solidFill>
                <a:latin typeface="Shantell Sans"/>
              </a:rPr>
              <a:t>Planifier croissance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095794" y="2109401"/>
            <a:ext cx="1352254" cy="410602"/>
            <a:chOff x="5127803" y="1999433"/>
            <a:chExt cx="1352254" cy="410602"/>
          </a:xfrm>
        </p:grpSpPr>
        <p:sp>
          <p:nvSpPr>
            <p:cNvPr id="19" name="TextBox 18"/>
            <p:cNvSpPr txBox="1"/>
            <p:nvPr/>
          </p:nvSpPr>
          <p:spPr>
            <a:xfrm>
              <a:off x="5127803" y="1999433"/>
              <a:ext cx="1352254" cy="205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DFE7EE"/>
                  </a:solidFill>
                  <a:latin typeface="Shantell Sans"/>
                </a:rPr>
                <a:t>Accélérer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27803" y="2204696"/>
              <a:ext cx="1352254" cy="205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DFE7EE"/>
                  </a:solidFill>
                  <a:latin typeface="Shantell Sans"/>
                </a:rPr>
                <a:t>développement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663689" y="2417403"/>
            <a:ext cx="1288751" cy="342109"/>
            <a:chOff x="2695698" y="2307435"/>
            <a:chExt cx="1288751" cy="342109"/>
          </a:xfrm>
        </p:grpSpPr>
        <p:sp>
          <p:nvSpPr>
            <p:cNvPr id="22" name="TextBox 21"/>
            <p:cNvSpPr txBox="1"/>
            <p:nvPr/>
          </p:nvSpPr>
          <p:spPr>
            <a:xfrm>
              <a:off x="2695698" y="2307435"/>
              <a:ext cx="1288751" cy="1710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Définir les règles de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695698" y="2478504"/>
              <a:ext cx="1288751" cy="17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synchronisation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942146" y="2622686"/>
            <a:ext cx="1659531" cy="342109"/>
            <a:chOff x="4974155" y="2512718"/>
            <a:chExt cx="1659531" cy="342109"/>
          </a:xfrm>
        </p:grpSpPr>
        <p:sp>
          <p:nvSpPr>
            <p:cNvPr id="25" name="TextBox 24"/>
            <p:cNvSpPr txBox="1"/>
            <p:nvPr/>
          </p:nvSpPr>
          <p:spPr>
            <a:xfrm>
              <a:off x="4974155" y="2512718"/>
              <a:ext cx="1659531" cy="1710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Architecture prête pour la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974155" y="2683787"/>
              <a:ext cx="1659531" cy="17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croissance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303043" y="3108548"/>
            <a:ext cx="454618" cy="1231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>
                <a:solidFill>
                  <a:srgbClr val="DFE7EE"/>
                </a:solidFill>
                <a:latin typeface="Shantell Sans"/>
              </a:rPr>
              <a:t>Isolation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0874" y="3108548"/>
            <a:ext cx="510082" cy="1231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DFE7EE"/>
                </a:solidFill>
                <a:latin typeface="Shantell Sans"/>
              </a:rPr>
              <a:t>Scalabilité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1321" y="3375467"/>
            <a:ext cx="1601190" cy="205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DFE7EE"/>
                </a:solidFill>
                <a:latin typeface="Shantell Sans"/>
              </a:rPr>
              <a:t>Standardiser Flux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988" y="3546519"/>
            <a:ext cx="1846164" cy="205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DFE7EE"/>
                </a:solidFill>
                <a:latin typeface="Shantell Sans"/>
              </a:rPr>
              <a:t>Sécuriser opérations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13350" y="3854506"/>
            <a:ext cx="1989439" cy="17105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DFE7EE"/>
                </a:solidFill>
                <a:latin typeface="Shantell Sans"/>
              </a:rPr>
              <a:t>Réduction drastique des erreurs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4950338" y="3683445"/>
            <a:ext cx="1643157" cy="342109"/>
            <a:chOff x="4982347" y="3573477"/>
            <a:chExt cx="1643157" cy="342109"/>
          </a:xfrm>
        </p:grpSpPr>
        <p:sp>
          <p:nvSpPr>
            <p:cNvPr id="33" name="TextBox 32"/>
            <p:cNvSpPr txBox="1"/>
            <p:nvPr/>
          </p:nvSpPr>
          <p:spPr>
            <a:xfrm>
              <a:off x="4982347" y="3573477"/>
              <a:ext cx="1643157" cy="1710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Fiabiliser les échanges de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82347" y="3744546"/>
              <a:ext cx="1643157" cy="17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DFE7EE"/>
                  </a:solidFill>
                  <a:latin typeface="Shantell Sans"/>
                </a:rPr>
                <a:t>données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322263" y="4538860"/>
            <a:ext cx="435473" cy="1231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>
                <a:solidFill>
                  <a:srgbClr val="DFE7EE"/>
                </a:solidFill>
                <a:latin typeface="Shantell Sans"/>
              </a:rPr>
              <a:t>Précision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